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media/image4.jpg" ContentType="image/png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71" r:id="rId3"/>
    <p:sldId id="272" r:id="rId4"/>
    <p:sldId id="274" r:id="rId5"/>
    <p:sldId id="275" r:id="rId6"/>
    <p:sldId id="276" r:id="rId7"/>
    <p:sldId id="277" r:id="rId8"/>
    <p:sldId id="278" r:id="rId9"/>
    <p:sldId id="279" r:id="rId10"/>
    <p:sldId id="280" r:id="rId11"/>
    <p:sldId id="281" r:id="rId12"/>
    <p:sldId id="282" r:id="rId13"/>
    <p:sldId id="283" r:id="rId14"/>
    <p:sldId id="284" r:id="rId15"/>
    <p:sldId id="260" r:id="rId16"/>
  </p:sldIdLst>
  <p:sldSz cx="12192000" cy="6858000"/>
  <p:notesSz cx="6858000" cy="9144000"/>
  <p:embeddedFontLst>
    <p:embeddedFont>
      <p:font typeface="Open Sans" panose="020B0604020202020204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2" pos="347" userDrawn="1">
          <p15:clr>
            <a:srgbClr val="000000"/>
          </p15:clr>
        </p15:guide>
        <p15:guide id="3" orient="horz" pos="1344" userDrawn="1">
          <p15:clr>
            <a:srgbClr val="A4A3A4"/>
          </p15:clr>
        </p15:guide>
        <p15:guide id="4" orient="horz" pos="98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5" roundtripDataSignature="AMtx7mg2fLzW2NWhC2ejww7VA5lENbgL/Q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3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6A2"/>
    <a:srgbClr val="065CAB"/>
    <a:srgbClr val="D1D1D1"/>
    <a:srgbClr val="F1BE29"/>
    <a:srgbClr val="7BC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60" autoAdjust="0"/>
  </p:normalViewPr>
  <p:slideViewPr>
    <p:cSldViewPr snapToGrid="0">
      <p:cViewPr varScale="1">
        <p:scale>
          <a:sx n="107" d="100"/>
          <a:sy n="107" d="100"/>
        </p:scale>
        <p:origin x="-594" y="-78"/>
      </p:cViewPr>
      <p:guideLst>
        <p:guide orient="horz" pos="1344"/>
        <p:guide orient="horz" pos="981"/>
        <p:guide pos="34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5083082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итульный слайд" userDrawn="1">
  <p:cSld name="TITLE">
    <p:bg>
      <p:bgRef idx="1001">
        <a:schemeClr val="bg1"/>
      </p:bgRef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88;p1">
            <a:extLst>
              <a:ext uri="{FF2B5EF4-FFF2-40B4-BE49-F238E27FC236}">
                <a16:creationId xmlns:a16="http://schemas.microsoft.com/office/drawing/2014/main" xmlns="" id="{2D925FD8-DECC-4CD6-B8C0-B1ADCC5FA20A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16270" b="8845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" name="Группа 6">
            <a:extLst>
              <a:ext uri="{FF2B5EF4-FFF2-40B4-BE49-F238E27FC236}">
                <a16:creationId xmlns:a16="http://schemas.microsoft.com/office/drawing/2014/main" xmlns="" id="{B0283559-7C69-4037-A5DE-025458FA127C}"/>
              </a:ext>
            </a:extLst>
          </p:cNvPr>
          <p:cNvGrpSpPr/>
          <p:nvPr userDrawn="1"/>
        </p:nvGrpSpPr>
        <p:grpSpPr>
          <a:xfrm>
            <a:off x="694478" y="633067"/>
            <a:ext cx="9502816" cy="4706741"/>
            <a:chOff x="694478" y="633067"/>
            <a:chExt cx="9502816" cy="4706741"/>
          </a:xfrm>
        </p:grpSpPr>
        <p:pic>
          <p:nvPicPr>
            <p:cNvPr id="9" name="Google Shape;13;p5">
              <a:extLst>
                <a:ext uri="{FF2B5EF4-FFF2-40B4-BE49-F238E27FC236}">
                  <a16:creationId xmlns:a16="http://schemas.microsoft.com/office/drawing/2014/main" xmlns="" id="{2F2230A9-DF50-482B-98EE-86D3A472B57F}"/>
                </a:ext>
              </a:extLst>
            </p:cNvPr>
            <p:cNvPicPr preferRelativeResize="0"/>
            <p:nvPr userDrawn="1"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94481" y="633067"/>
              <a:ext cx="9502813" cy="47067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xmlns="" id="{8967D30A-87B4-4421-A52A-46DC79DD78AC}"/>
                </a:ext>
              </a:extLst>
            </p:cNvPr>
            <p:cNvSpPr/>
            <p:nvPr userDrawn="1"/>
          </p:nvSpPr>
          <p:spPr>
            <a:xfrm>
              <a:off x="694478" y="5306991"/>
              <a:ext cx="9502813" cy="28800"/>
            </a:xfrm>
            <a:prstGeom prst="rect">
              <a:avLst/>
            </a:prstGeom>
            <a:solidFill>
              <a:srgbClr val="E6E7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pic>
        <p:nvPicPr>
          <p:cNvPr id="3" name="Рисунок 2">
            <a:extLst>
              <a:ext uri="{FF2B5EF4-FFF2-40B4-BE49-F238E27FC236}">
                <a16:creationId xmlns:a16="http://schemas.microsoft.com/office/drawing/2014/main" xmlns="" id="{D20BDE73-1EE8-4C18-91ED-1CD26511FE5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157539" y="611835"/>
            <a:ext cx="2361600" cy="721959"/>
          </a:xfrm>
          <a:prstGeom prst="rect">
            <a:avLst/>
          </a:prstGeom>
        </p:spPr>
      </p:pic>
      <p:sp>
        <p:nvSpPr>
          <p:cNvPr id="4" name="Google Shape;11;p5">
            <a:extLst>
              <a:ext uri="{FF2B5EF4-FFF2-40B4-BE49-F238E27FC236}">
                <a16:creationId xmlns:a16="http://schemas.microsoft.com/office/drawing/2014/main" xmlns="" id="{E3BFA7FB-261D-418C-AB36-0AE52A4CC41D}"/>
              </a:ext>
            </a:extLst>
          </p:cNvPr>
          <p:cNvSpPr txBox="1">
            <a:spLocks noGrp="1"/>
          </p:cNvSpPr>
          <p:nvPr>
            <p:ph type="ctrTitle" hasCustomPrompt="1"/>
          </p:nvPr>
        </p:nvSpPr>
        <p:spPr>
          <a:xfrm>
            <a:off x="1078287" y="831273"/>
            <a:ext cx="9119010" cy="3416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Open Sans"/>
              <a:buNone/>
              <a:defRPr sz="4400" b="0">
                <a:solidFill>
                  <a:schemeClr val="lt1"/>
                </a:solidFill>
                <a:latin typeface="+mj-lt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 dirty="0"/>
              <a:t>Заголовок слайда</a:t>
            </a:r>
            <a:endParaRPr dirty="0"/>
          </a:p>
        </p:txBody>
      </p:sp>
      <p:sp>
        <p:nvSpPr>
          <p:cNvPr id="5" name="Google Shape;12;p5">
            <a:extLst>
              <a:ext uri="{FF2B5EF4-FFF2-40B4-BE49-F238E27FC236}">
                <a16:creationId xmlns:a16="http://schemas.microsoft.com/office/drawing/2014/main" xmlns="" id="{84D6A78E-BD41-4E16-8DD7-8CD3958FF54B}"/>
              </a:ext>
            </a:extLst>
          </p:cNvPr>
          <p:cNvSpPr txBox="1">
            <a:spLocks noGrp="1"/>
          </p:cNvSpPr>
          <p:nvPr>
            <p:ph type="subTitle" idx="1" hasCustomPrompt="1"/>
          </p:nvPr>
        </p:nvSpPr>
        <p:spPr>
          <a:xfrm>
            <a:off x="1078286" y="4363657"/>
            <a:ext cx="9119010" cy="968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lt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  <a:sym typeface="Open Sans"/>
              </a:defRPr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r>
              <a:rPr lang="ru-RU" dirty="0"/>
              <a:t>Подзаголовок слайда</a:t>
            </a:r>
            <a:endParaRPr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, подзаголовок и объект" userDrawn="1">
  <p:cSld name="Заголовок, подзаголовок и объект">
    <p:bg>
      <p:bgRef idx="1001">
        <a:schemeClr val="bg1"/>
      </p:bgRef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>
            <a:spLocks noGrp="1"/>
          </p:cNvSpPr>
          <p:nvPr>
            <p:ph type="body" idx="1" hasCustomPrompt="1"/>
          </p:nvPr>
        </p:nvSpPr>
        <p:spPr>
          <a:xfrm>
            <a:off x="558782" y="1778092"/>
            <a:ext cx="11196533" cy="4473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▪"/>
              <a:defRPr sz="2300">
                <a:latin typeface="ALS Sector Regular" panose="02000000000000000000" pitchFamily="2" charset="0"/>
                <a:ea typeface="Open Sans"/>
                <a:cs typeface="ALS Sector Regular" panose="02000000000000000000" pitchFamily="2" charset="0"/>
                <a:sym typeface="Open Sans"/>
              </a:defRPr>
            </a:lvl1pPr>
            <a:lvl2pPr marL="914400" lvl="1" indent="-355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▪"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30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▪"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▪"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▪"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ru-RU" dirty="0"/>
              <a:t>Текст слайда</a:t>
            </a:r>
            <a:endParaRPr dirty="0"/>
          </a:p>
        </p:txBody>
      </p:sp>
      <p:sp>
        <p:nvSpPr>
          <p:cNvPr id="30" name="Google Shape;30;p8"/>
          <p:cNvSpPr txBox="1">
            <a:spLocks noGrp="1"/>
          </p:cNvSpPr>
          <p:nvPr>
            <p:ph type="body" idx="2" hasCustomPrompt="1"/>
          </p:nvPr>
        </p:nvSpPr>
        <p:spPr>
          <a:xfrm>
            <a:off x="558782" y="1185979"/>
            <a:ext cx="11196533" cy="584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3200"/>
              <a:buNone/>
              <a:defRPr sz="2700">
                <a:solidFill>
                  <a:srgbClr val="F1BE29"/>
                </a:solidFill>
                <a:latin typeface="ALS Sector Regular" panose="02000000000000000000" pitchFamily="2" charset="0"/>
                <a:ea typeface="Open Sans"/>
                <a:cs typeface="ALS Sector Regular" panose="02000000000000000000" pitchFamily="2" charset="0"/>
                <a:sym typeface="Open Sans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20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ru-RU" dirty="0"/>
              <a:t>Текст слайда</a:t>
            </a:r>
          </a:p>
          <a:p>
            <a:endParaRPr dirty="0"/>
          </a:p>
        </p:txBody>
      </p:sp>
      <p:sp>
        <p:nvSpPr>
          <p:cNvPr id="6" name="Google Shape;83;p17">
            <a:extLst>
              <a:ext uri="{FF2B5EF4-FFF2-40B4-BE49-F238E27FC236}">
                <a16:creationId xmlns:a16="http://schemas.microsoft.com/office/drawing/2014/main" xmlns="" id="{464BD804-D61C-41D4-836A-3F0D5620725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273628" y="6434051"/>
            <a:ext cx="570309" cy="27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userDrawn="1">
  <p:cSld name="TITLE_ONLY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83;p17">
            <a:extLst>
              <a:ext uri="{FF2B5EF4-FFF2-40B4-BE49-F238E27FC236}">
                <a16:creationId xmlns:a16="http://schemas.microsoft.com/office/drawing/2014/main" xmlns="" id="{3C33CCE7-3AA5-4E4A-9FB4-1EE49FE9D89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273628" y="6434051"/>
            <a:ext cx="570309" cy="27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83;p17">
            <a:extLst>
              <a:ext uri="{FF2B5EF4-FFF2-40B4-BE49-F238E27FC236}">
                <a16:creationId xmlns:a16="http://schemas.microsoft.com/office/drawing/2014/main" xmlns="" id="{0CA1A5D0-6F6B-4B83-84EB-024B06E2BB7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273628" y="6434051"/>
            <a:ext cx="570309" cy="27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, текст и объект" userDrawn="1">
  <p:cSld name="Заголовок, текст и объект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>
            <a:spLocks noGrp="1"/>
          </p:cNvSpPr>
          <p:nvPr>
            <p:ph type="body" idx="1" hasCustomPrompt="1"/>
          </p:nvPr>
        </p:nvSpPr>
        <p:spPr>
          <a:xfrm>
            <a:off x="5183187" y="1301263"/>
            <a:ext cx="6735185" cy="4908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▪"/>
              <a:defRPr sz="2300">
                <a:latin typeface="ALS Sector Regular" panose="02000000000000000000" pitchFamily="2" charset="0"/>
                <a:ea typeface="Open Sans"/>
                <a:cs typeface="ALS Sector Regular" panose="02000000000000000000" pitchFamily="2" charset="0"/>
                <a:sym typeface="Open Sans"/>
              </a:defRPr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2100"/>
              <a:buChar char="▪"/>
              <a:defRPr sz="2100"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▪"/>
              <a:defRPr sz="1800"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▪"/>
              <a:defRPr sz="1500"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▪"/>
              <a:defRPr sz="1500"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r>
              <a:rPr lang="ru-RU" dirty="0"/>
              <a:t>Текст слайда</a:t>
            </a:r>
            <a:endParaRPr dirty="0"/>
          </a:p>
        </p:txBody>
      </p:sp>
      <p:sp>
        <p:nvSpPr>
          <p:cNvPr id="82" name="Google Shape;82;p17"/>
          <p:cNvSpPr txBox="1">
            <a:spLocks noGrp="1"/>
          </p:cNvSpPr>
          <p:nvPr>
            <p:ph type="body" idx="2" hasCustomPrompt="1"/>
          </p:nvPr>
        </p:nvSpPr>
        <p:spPr>
          <a:xfrm>
            <a:off x="273628" y="1301263"/>
            <a:ext cx="4784147" cy="4908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  <a:defRPr sz="2300">
                <a:latin typeface="ALS Sector Regular" panose="02000000000000000000" pitchFamily="2" charset="0"/>
                <a:ea typeface="Open Sans"/>
                <a:cs typeface="ALS Sector Regular" panose="02000000000000000000" pitchFamily="2" charset="0"/>
                <a:sym typeface="Open Sans"/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sz="1800"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sz="1400"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298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▪"/>
              <a:defRPr sz="1100"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298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▪"/>
              <a:defRPr sz="1100"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r>
              <a:rPr lang="ru-RU" dirty="0"/>
              <a:t>Текст слайда</a:t>
            </a:r>
            <a:endParaRPr dirty="0"/>
          </a:p>
        </p:txBody>
      </p:sp>
      <p:sp>
        <p:nvSpPr>
          <p:cNvPr id="83" name="Google Shape;83;p17"/>
          <p:cNvSpPr txBox="1">
            <a:spLocks noGrp="1"/>
          </p:cNvSpPr>
          <p:nvPr>
            <p:ph type="sldNum" idx="12"/>
          </p:nvPr>
        </p:nvSpPr>
        <p:spPr>
          <a:xfrm>
            <a:off x="273628" y="6434051"/>
            <a:ext cx="570309" cy="27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>
            <a:spLocks noGrp="1"/>
          </p:cNvSpPr>
          <p:nvPr>
            <p:ph type="title" hasCustomPrompt="1"/>
          </p:nvPr>
        </p:nvSpPr>
        <p:spPr>
          <a:xfrm>
            <a:off x="273628" y="1213658"/>
            <a:ext cx="4702029" cy="843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Open Sans"/>
              <a:buNone/>
              <a:defRPr sz="2700">
                <a:latin typeface="ALS Sector Bold" pitchFamily="2" charset="0"/>
                <a:ea typeface="Open Sans"/>
                <a:cs typeface="ALS Sector Bold" pitchFamily="2" charset="0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 sz="2700" dirty="0"/>
              <a:t>Заголовок слайда</a:t>
            </a:r>
            <a:endParaRPr dirty="0"/>
          </a:p>
        </p:txBody>
      </p:sp>
      <p:sp>
        <p:nvSpPr>
          <p:cNvPr id="76" name="Google Shape;76;p16"/>
          <p:cNvSpPr txBox="1">
            <a:spLocks noGrp="1"/>
          </p:cNvSpPr>
          <p:nvPr>
            <p:ph type="body" idx="1" hasCustomPrompt="1"/>
          </p:nvPr>
        </p:nvSpPr>
        <p:spPr>
          <a:xfrm>
            <a:off x="5183187" y="311727"/>
            <a:ext cx="6735185" cy="5549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▪"/>
              <a:defRPr sz="2700">
                <a:latin typeface="ALS Sector Regular" panose="02000000000000000000" pitchFamily="2" charset="0"/>
                <a:cs typeface="ALS Sector Regular" panose="02000000000000000000" pitchFamily="2" charset="0"/>
              </a:defRPr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2100"/>
              <a:buChar char="▪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▪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▪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▪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r>
              <a:rPr lang="ru-RU" dirty="0"/>
              <a:t>Текст слайда</a:t>
            </a:r>
            <a:endParaRPr dirty="0"/>
          </a:p>
        </p:txBody>
      </p:sp>
      <p:sp>
        <p:nvSpPr>
          <p:cNvPr id="77" name="Google Shape;77;p16"/>
          <p:cNvSpPr txBox="1">
            <a:spLocks noGrp="1"/>
          </p:cNvSpPr>
          <p:nvPr>
            <p:ph type="body" idx="2" hasCustomPrompt="1"/>
          </p:nvPr>
        </p:nvSpPr>
        <p:spPr>
          <a:xfrm>
            <a:off x="273628" y="2057400"/>
            <a:ext cx="4702029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  <a:defRPr sz="1300">
                <a:latin typeface="ALS Sector Regular" panose="02000000000000000000" pitchFamily="2" charset="0"/>
                <a:ea typeface="Open Sans"/>
                <a:cs typeface="ALS Sector Regular" panose="02000000000000000000" pitchFamily="2" charset="0"/>
                <a:sym typeface="Open Sans"/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sz="1800"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sz="1400"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298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▪"/>
              <a:defRPr sz="1100"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298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▪"/>
              <a:defRPr sz="1100"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r>
              <a:rPr lang="ru-RU" dirty="0"/>
              <a:t>Текст слайда</a:t>
            </a:r>
            <a:endParaRPr dirty="0"/>
          </a:p>
        </p:txBody>
      </p:sp>
      <p:sp>
        <p:nvSpPr>
          <p:cNvPr id="6" name="Google Shape;83;p17">
            <a:extLst>
              <a:ext uri="{FF2B5EF4-FFF2-40B4-BE49-F238E27FC236}">
                <a16:creationId xmlns:a16="http://schemas.microsoft.com/office/drawing/2014/main" xmlns="" id="{375ED264-9BE6-45D1-BEF5-3485B756C4E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273628" y="6434051"/>
            <a:ext cx="570309" cy="27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>
            <a:spLocks noGrp="1"/>
          </p:cNvSpPr>
          <p:nvPr>
            <p:ph type="title" hasCustomPrompt="1"/>
          </p:nvPr>
        </p:nvSpPr>
        <p:spPr>
          <a:xfrm>
            <a:off x="322118" y="1197033"/>
            <a:ext cx="4449907" cy="8603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Open Sans"/>
              <a:buNone/>
              <a:defRPr sz="2700">
                <a:latin typeface="ALS Sector Bold" pitchFamily="2" charset="0"/>
                <a:ea typeface="Open Sans"/>
                <a:cs typeface="ALS Sector Bold" pitchFamily="2" charset="0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 sz="2700" dirty="0"/>
              <a:t>Заголовок слайда</a:t>
            </a:r>
            <a:endParaRPr dirty="0"/>
          </a:p>
        </p:txBody>
      </p:sp>
      <p:sp>
        <p:nvSpPr>
          <p:cNvPr id="86" name="Google Shape;86;p18"/>
          <p:cNvSpPr>
            <a:spLocks noGrp="1"/>
          </p:cNvSpPr>
          <p:nvPr>
            <p:ph type="pic" idx="2" hasCustomPrompt="1"/>
          </p:nvPr>
        </p:nvSpPr>
        <p:spPr>
          <a:xfrm>
            <a:off x="5287096" y="238509"/>
            <a:ext cx="6582785" cy="5627304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29803"/>
              </a:srgbClr>
            </a:outerShdw>
          </a:effectLst>
        </p:spPr>
        <p:txBody>
          <a:bodyPr>
            <a:normAutofit/>
          </a:bodyPr>
          <a:lstStyle>
            <a:lvl1pPr>
              <a:defRPr sz="2300">
                <a:latin typeface="ALS Sector Regular" panose="02000000000000000000" pitchFamily="2" charset="0"/>
                <a:cs typeface="ALS Sector Regular" panose="02000000000000000000" pitchFamily="2" charset="0"/>
              </a:defRPr>
            </a:lvl1pPr>
          </a:lstStyle>
          <a:p>
            <a:r>
              <a:rPr lang="ru-RU" dirty="0"/>
              <a:t>Рисунок</a:t>
            </a:r>
          </a:p>
        </p:txBody>
      </p:sp>
      <p:sp>
        <p:nvSpPr>
          <p:cNvPr id="87" name="Google Shape;87;p18"/>
          <p:cNvSpPr txBox="1">
            <a:spLocks noGrp="1"/>
          </p:cNvSpPr>
          <p:nvPr>
            <p:ph type="body" idx="1" hasCustomPrompt="1"/>
          </p:nvPr>
        </p:nvSpPr>
        <p:spPr>
          <a:xfrm>
            <a:off x="322118" y="2057400"/>
            <a:ext cx="444990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76200" lvl="0" indent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  <a:defRPr sz="1300">
                <a:latin typeface="ALS Sector Regular" panose="02000000000000000000" pitchFamily="2" charset="0"/>
                <a:ea typeface="Open Sans"/>
                <a:cs typeface="ALS Sector Regular" panose="02000000000000000000" pitchFamily="2" charset="0"/>
                <a:sym typeface="Open Sans"/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sz="1800"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sz="1400"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298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▪"/>
              <a:defRPr sz="1100"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298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▪"/>
              <a:defRPr sz="1100"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r>
              <a:rPr lang="ru-RU" dirty="0"/>
              <a:t>Текст слайда</a:t>
            </a:r>
            <a:endParaRPr dirty="0"/>
          </a:p>
        </p:txBody>
      </p:sp>
      <p:sp>
        <p:nvSpPr>
          <p:cNvPr id="6" name="Google Shape;83;p17">
            <a:extLst>
              <a:ext uri="{FF2B5EF4-FFF2-40B4-BE49-F238E27FC236}">
                <a16:creationId xmlns:a16="http://schemas.microsoft.com/office/drawing/2014/main" xmlns="" id="{BB71C74F-A570-498D-A002-6D7C372C65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273628" y="6434051"/>
            <a:ext cx="570309" cy="27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крывающий слайд пустой" userDrawn="1">
  <p:cSld name="Закрывающий слайд пустой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88;p1">
            <a:extLst>
              <a:ext uri="{FF2B5EF4-FFF2-40B4-BE49-F238E27FC236}">
                <a16:creationId xmlns:a16="http://schemas.microsoft.com/office/drawing/2014/main" xmlns="" id="{12BBAE2F-1E25-4B32-9650-086D0CA2FEB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16270" b="8845"/>
          <a:stretch/>
        </p:blipFill>
        <p:spPr>
          <a:xfrm>
            <a:off x="1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2B857A83-5237-42B9-BA8A-BF8F445C1D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75410" y="2096584"/>
            <a:ext cx="1332000" cy="133200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xmlns="" id="{FDF32500-0827-4423-A3B8-9538CB7A7CD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278526" y="2042584"/>
            <a:ext cx="4710383" cy="144000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D5D1BD65-59E0-46AC-BC24-1B28D1FA30E4}"/>
              </a:ext>
            </a:extLst>
          </p:cNvPr>
          <p:cNvSpPr txBox="1"/>
          <p:nvPr userDrawn="1"/>
        </p:nvSpPr>
        <p:spPr>
          <a:xfrm>
            <a:off x="7849902" y="2522519"/>
            <a:ext cx="3048512" cy="480131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2800" dirty="0">
                <a:solidFill>
                  <a:schemeClr val="bg1"/>
                </a:solidFill>
                <a:latin typeface="ALS Sector Bold" pitchFamily="2" charset="0"/>
                <a:ea typeface="Roboto Black" panose="02000000000000000000" pitchFamily="2" charset="0"/>
              </a:rPr>
              <a:t>do.bmstu.ru</a:t>
            </a:r>
            <a:endParaRPr lang="ru-RU" sz="2800" dirty="0">
              <a:solidFill>
                <a:schemeClr val="bg1"/>
              </a:solidFill>
              <a:latin typeface="ALS Sector Bold" pitchFamily="2" charset="0"/>
              <a:ea typeface="Roboto Black" panose="02000000000000000000" pitchFamily="2" charset="0"/>
            </a:endParaRPr>
          </a:p>
        </p:txBody>
      </p:sp>
      <p:sp>
        <p:nvSpPr>
          <p:cNvPr id="32" name="Прямоугольник 58">
            <a:extLst>
              <a:ext uri="{FF2B5EF4-FFF2-40B4-BE49-F238E27FC236}">
                <a16:creationId xmlns:a16="http://schemas.microsoft.com/office/drawing/2014/main" xmlns="" id="{046CF162-1BBC-4CF7-9474-D6A32C635F92}"/>
              </a:ext>
            </a:extLst>
          </p:cNvPr>
          <p:cNvSpPr/>
          <p:nvPr userDrawn="1"/>
        </p:nvSpPr>
        <p:spPr>
          <a:xfrm flipH="1">
            <a:off x="10711835" y="2096584"/>
            <a:ext cx="130790" cy="1332000"/>
          </a:xfrm>
          <a:custGeom>
            <a:avLst/>
            <a:gdLst>
              <a:gd name="connsiteX0" fmla="*/ 0 w 424732"/>
              <a:gd name="connsiteY0" fmla="*/ 0 h 424732"/>
              <a:gd name="connsiteX1" fmla="*/ 424732 w 424732"/>
              <a:gd name="connsiteY1" fmla="*/ 0 h 424732"/>
              <a:gd name="connsiteX2" fmla="*/ 424732 w 424732"/>
              <a:gd name="connsiteY2" fmla="*/ 424732 h 424732"/>
              <a:gd name="connsiteX3" fmla="*/ 0 w 424732"/>
              <a:gd name="connsiteY3" fmla="*/ 424732 h 424732"/>
              <a:gd name="connsiteX4" fmla="*/ 0 w 424732"/>
              <a:gd name="connsiteY4" fmla="*/ 0 h 424732"/>
              <a:gd name="connsiteX0" fmla="*/ 0 w 425450"/>
              <a:gd name="connsiteY0" fmla="*/ 0 h 424732"/>
              <a:gd name="connsiteX1" fmla="*/ 424732 w 425450"/>
              <a:gd name="connsiteY1" fmla="*/ 0 h 424732"/>
              <a:gd name="connsiteX2" fmla="*/ 425450 w 425450"/>
              <a:gd name="connsiteY2" fmla="*/ 238890 h 424732"/>
              <a:gd name="connsiteX3" fmla="*/ 424732 w 425450"/>
              <a:gd name="connsiteY3" fmla="*/ 424732 h 424732"/>
              <a:gd name="connsiteX4" fmla="*/ 0 w 425450"/>
              <a:gd name="connsiteY4" fmla="*/ 424732 h 424732"/>
              <a:gd name="connsiteX5" fmla="*/ 0 w 425450"/>
              <a:gd name="connsiteY5" fmla="*/ 0 h 424732"/>
              <a:gd name="connsiteX0" fmla="*/ 425450 w 516890"/>
              <a:gd name="connsiteY0" fmla="*/ 238890 h 424732"/>
              <a:gd name="connsiteX1" fmla="*/ 424732 w 516890"/>
              <a:gd name="connsiteY1" fmla="*/ 424732 h 424732"/>
              <a:gd name="connsiteX2" fmla="*/ 0 w 516890"/>
              <a:gd name="connsiteY2" fmla="*/ 424732 h 424732"/>
              <a:gd name="connsiteX3" fmla="*/ 0 w 516890"/>
              <a:gd name="connsiteY3" fmla="*/ 0 h 424732"/>
              <a:gd name="connsiteX4" fmla="*/ 424732 w 516890"/>
              <a:gd name="connsiteY4" fmla="*/ 0 h 424732"/>
              <a:gd name="connsiteX5" fmla="*/ 516890 w 516890"/>
              <a:gd name="connsiteY5" fmla="*/ 330330 h 424732"/>
              <a:gd name="connsiteX0" fmla="*/ 424732 w 516890"/>
              <a:gd name="connsiteY0" fmla="*/ 424732 h 424732"/>
              <a:gd name="connsiteX1" fmla="*/ 0 w 516890"/>
              <a:gd name="connsiteY1" fmla="*/ 424732 h 424732"/>
              <a:gd name="connsiteX2" fmla="*/ 0 w 516890"/>
              <a:gd name="connsiteY2" fmla="*/ 0 h 424732"/>
              <a:gd name="connsiteX3" fmla="*/ 424732 w 516890"/>
              <a:gd name="connsiteY3" fmla="*/ 0 h 424732"/>
              <a:gd name="connsiteX4" fmla="*/ 516890 w 516890"/>
              <a:gd name="connsiteY4" fmla="*/ 330330 h 424732"/>
              <a:gd name="connsiteX0" fmla="*/ 424732 w 424732"/>
              <a:gd name="connsiteY0" fmla="*/ 424732 h 424732"/>
              <a:gd name="connsiteX1" fmla="*/ 0 w 424732"/>
              <a:gd name="connsiteY1" fmla="*/ 424732 h 424732"/>
              <a:gd name="connsiteX2" fmla="*/ 0 w 424732"/>
              <a:gd name="connsiteY2" fmla="*/ 0 h 424732"/>
              <a:gd name="connsiteX3" fmla="*/ 424732 w 424732"/>
              <a:gd name="connsiteY3" fmla="*/ 0 h 424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4732" h="424732">
                <a:moveTo>
                  <a:pt x="424732" y="424732"/>
                </a:moveTo>
                <a:lnTo>
                  <a:pt x="0" y="424732"/>
                </a:lnTo>
                <a:lnTo>
                  <a:pt x="0" y="0"/>
                </a:lnTo>
                <a:lnTo>
                  <a:pt x="424732" y="0"/>
                </a:lnTo>
              </a:path>
            </a:pathLst>
          </a:cu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 dirty="0">
              <a:latin typeface="ALS Sector Regular" panose="02000000000000000000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xmlns="" id="{9E8EEF78-8EFF-47ED-8447-A3A1F67B89B9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420566" y="446017"/>
            <a:ext cx="2361600" cy="722882"/>
          </a:xfrm>
          <a:prstGeom prst="rect">
            <a:avLst/>
          </a:prstGeom>
        </p:spPr>
      </p:pic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420566" y="1301777"/>
            <a:ext cx="11350868" cy="4924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55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rPr lang="ru-RU" dirty="0"/>
              <a:t>Текст слайда</a:t>
            </a:r>
            <a:endParaRPr lang="en-US" sz="2300" dirty="0">
              <a:latin typeface="ALS Sector Regular" panose="02000000000000000000" pitchFamily="2" charset="0"/>
              <a:cs typeface="ALS Sector Regular" panose="02000000000000000000" pitchFamily="2" charset="0"/>
            </a:endParaRPr>
          </a:p>
          <a:p>
            <a:endParaRPr dirty="0"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68287" y="6360806"/>
            <a:ext cx="8381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2400" b="0" i="0" u="none" strike="noStrike" cap="none">
                <a:solidFill>
                  <a:srgbClr val="898989"/>
                </a:solidFill>
                <a:latin typeface="+mj-lt"/>
                <a:ea typeface="Open Sans"/>
                <a:cs typeface="Open Sans"/>
                <a:sym typeface="Open Sans"/>
              </a:defRPr>
            </a:lvl1pPr>
            <a:lvl2pPr marL="0" marR="0" lvl="1" indent="0" algn="l" rtl="0">
              <a:spcBef>
                <a:spcPts val="0"/>
              </a:spcBef>
              <a:buNone/>
              <a:defRPr sz="2400" b="0" i="0" u="none" strike="noStrike" cap="none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l" rtl="0">
              <a:spcBef>
                <a:spcPts val="0"/>
              </a:spcBef>
              <a:buNone/>
              <a:defRPr sz="2400" b="0" i="0" u="none" strike="noStrike" cap="none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l" rtl="0">
              <a:spcBef>
                <a:spcPts val="0"/>
              </a:spcBef>
              <a:buNone/>
              <a:defRPr sz="2400" b="0" i="0" u="none" strike="noStrike" cap="none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l" rtl="0">
              <a:spcBef>
                <a:spcPts val="0"/>
              </a:spcBef>
              <a:buNone/>
              <a:defRPr sz="2400" b="0" i="0" u="none" strike="noStrike" cap="none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l" rtl="0">
              <a:spcBef>
                <a:spcPts val="0"/>
              </a:spcBef>
              <a:buNone/>
              <a:defRPr sz="2400" b="0" i="0" u="none" strike="noStrike" cap="none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l" rtl="0">
              <a:spcBef>
                <a:spcPts val="0"/>
              </a:spcBef>
              <a:buNone/>
              <a:defRPr sz="2400" b="0" i="0" u="none" strike="noStrike" cap="none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l" rtl="0">
              <a:spcBef>
                <a:spcPts val="0"/>
              </a:spcBef>
              <a:buNone/>
              <a:defRPr sz="2400" b="0" i="0" u="none" strike="noStrike" cap="none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l" rtl="0">
              <a:spcBef>
                <a:spcPts val="0"/>
              </a:spcBef>
              <a:buNone/>
              <a:defRPr sz="2400" b="0" i="0" u="none" strike="noStrike" cap="none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fld id="{00000000-1234-1234-1234-123412341234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8" r:id="rId3"/>
    <p:sldLayoutId id="2147483659" r:id="rId4"/>
    <p:sldLayoutId id="2147483661" r:id="rId5"/>
    <p:sldLayoutId id="2147483660" r:id="rId6"/>
    <p:sldLayoutId id="2147483662" r:id="rId7"/>
    <p:sldLayoutId id="2147483651" r:id="rId8"/>
  </p:sldLayoutIdLst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L="76200" marR="0" lvl="0" indent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2300" b="0" i="0" u="none" strike="noStrike" cap="none" baseline="0">
          <a:solidFill>
            <a:srgbClr val="000000"/>
          </a:solidFill>
          <a:latin typeface="+mn-lt"/>
          <a:ea typeface="ALS Sector Regular" panose="02000000000000000000" pitchFamily="2" charset="0"/>
          <a:cs typeface="ALS Sector Regular" panose="02000000000000000000" pitchFamily="2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iksar-pixel/Composite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5574598A-8D69-4EDC-8A16-7BF4EA8474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9013" y="1040997"/>
            <a:ext cx="9119010" cy="3416636"/>
          </a:xfrm>
        </p:spPr>
        <p:txBody>
          <a:bodyPr/>
          <a:lstStyle/>
          <a:p>
            <a:pPr lvl="0" algn="ctr">
              <a:lnSpc>
                <a:spcPct val="100000"/>
              </a:lnSpc>
              <a:spcAft>
                <a:spcPts val="1200"/>
              </a:spcAft>
            </a:pPr>
            <a:r>
              <a:rPr lang="ru-RU" sz="2800" b="1" kern="1200" dirty="0" smtClean="0">
                <a:solidFill>
                  <a:prstClr val="white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ВЫПУСКНАЯ КВАЛИФИКАЦИОННАЯ РАБОТА</a:t>
            </a:r>
            <a:br>
              <a:rPr lang="ru-RU" sz="2800" b="1" kern="1200" dirty="0" smtClean="0">
                <a:solidFill>
                  <a:prstClr val="white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lang="ru-RU" sz="2800" b="1" kern="1200" dirty="0" smtClean="0">
                <a:solidFill>
                  <a:prstClr val="white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по курсу «</a:t>
            </a:r>
            <a:r>
              <a:rPr lang="en-US" sz="2800" b="1" kern="1200" dirty="0" smtClean="0">
                <a:solidFill>
                  <a:prstClr val="white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Data Science</a:t>
            </a:r>
            <a:r>
              <a:rPr lang="ru-RU" sz="2800" b="1" kern="1200" dirty="0" smtClean="0">
                <a:solidFill>
                  <a:prstClr val="white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2800" dirty="0"/>
              <a:t>PRO</a:t>
            </a:r>
            <a:r>
              <a:rPr lang="ru-RU" sz="2800" b="1" kern="1200" dirty="0" smtClean="0">
                <a:solidFill>
                  <a:prstClr val="white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»</a:t>
            </a:r>
            <a:br>
              <a:rPr lang="ru-RU" sz="2800" b="1" kern="1200" dirty="0" smtClean="0">
                <a:solidFill>
                  <a:prstClr val="white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lang="ru-RU" sz="3600" b="1" kern="1200" dirty="0">
                <a:solidFill>
                  <a:prstClr val="white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/>
            </a:r>
            <a:br>
              <a:rPr lang="ru-RU" sz="3600" b="1" kern="1200" dirty="0">
                <a:solidFill>
                  <a:prstClr val="white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lang="ru-RU" sz="2800" b="1" kern="1200" dirty="0" smtClean="0">
                <a:solidFill>
                  <a:prstClr val="white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Тема</a:t>
            </a:r>
            <a:r>
              <a:rPr lang="ru-RU" sz="2800" b="1" kern="1200" dirty="0">
                <a:solidFill>
                  <a:prstClr val="white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 Прогнозирование конечных свойств </a:t>
            </a:r>
            <a:br>
              <a:rPr lang="ru-RU" sz="2800" b="1" kern="1200" dirty="0">
                <a:solidFill>
                  <a:prstClr val="white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lang="ru-RU" sz="2800" b="1" kern="1200" dirty="0">
                <a:solidFill>
                  <a:prstClr val="white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новых материалов (композиционных материалов)</a:t>
            </a:r>
            <a:r>
              <a:rPr lang="ru-RU" sz="3600" b="1" kern="1200" dirty="0">
                <a:solidFill>
                  <a:prstClr val="white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/>
            </a:r>
            <a:br>
              <a:rPr lang="ru-RU" sz="3600" b="1" kern="1200" dirty="0">
                <a:solidFill>
                  <a:prstClr val="white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endParaRPr lang="en-US" sz="3600" b="1" kern="1200" dirty="0">
              <a:solidFill>
                <a:prstClr val="white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xmlns="" id="{30C45695-17CA-4F1C-9AC0-19290977FA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8286" y="4363658"/>
            <a:ext cx="9119010" cy="874168"/>
          </a:xfrm>
        </p:spPr>
        <p:txBody>
          <a:bodyPr/>
          <a:lstStyle/>
          <a:p>
            <a:r>
              <a:rPr lang="ru-RU" dirty="0" smtClean="0">
                <a:latin typeface="+mn-lt"/>
              </a:rPr>
              <a:t>Волков Игорь Владимирович</a:t>
            </a:r>
            <a:endParaRPr lang="en-US" dirty="0">
              <a:latin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Группа 64">
            <a:extLst>
              <a:ext uri="{FF2B5EF4-FFF2-40B4-BE49-F238E27FC236}">
                <a16:creationId xmlns:a16="http://schemas.microsoft.com/office/drawing/2014/main" xmlns="" id="{9280711C-2262-4089-92EE-9BEACCC60C4C}"/>
              </a:ext>
            </a:extLst>
          </p:cNvPr>
          <p:cNvGrpSpPr/>
          <p:nvPr/>
        </p:nvGrpSpPr>
        <p:grpSpPr>
          <a:xfrm>
            <a:off x="3167879" y="469293"/>
            <a:ext cx="5337946" cy="666000"/>
            <a:chOff x="1476753" y="3499669"/>
            <a:chExt cx="4619247" cy="666000"/>
          </a:xfrm>
        </p:grpSpPr>
        <p:sp>
          <p:nvSpPr>
            <p:cNvPr id="68" name="Прямоугольник 67">
              <a:extLst>
                <a:ext uri="{FF2B5EF4-FFF2-40B4-BE49-F238E27FC236}">
                  <a16:creationId xmlns:a16="http://schemas.microsoft.com/office/drawing/2014/main" xmlns="" id="{E2535886-3476-4B40-9706-6797B77905C0}"/>
                </a:ext>
              </a:extLst>
            </p:cNvPr>
            <p:cNvSpPr/>
            <p:nvPr/>
          </p:nvSpPr>
          <p:spPr>
            <a:xfrm>
              <a:off x="1476753" y="3499669"/>
              <a:ext cx="4619247" cy="66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800" spc="180" dirty="0">
                  <a:ln>
                    <a:solidFill>
                      <a:srgbClr val="065CAB"/>
                    </a:solidFill>
                  </a:ln>
                  <a:solidFill>
                    <a:srgbClr val="065CAB"/>
                  </a:solidFill>
                  <a:latin typeface="ALS Sector Bold" pitchFamily="2" charset="0"/>
                  <a:cs typeface="ALS Sector Bold" pitchFamily="2" charset="0"/>
                </a:rPr>
                <a:t>Основные задачи работы</a:t>
              </a:r>
              <a:endParaRPr lang="x-none" sz="2800" spc="180" dirty="0">
                <a:ln>
                  <a:solidFill>
                    <a:srgbClr val="065CAB"/>
                  </a:solidFill>
                </a:ln>
                <a:solidFill>
                  <a:srgbClr val="065CAB"/>
                </a:solidFill>
                <a:latin typeface="ALS Sector Bold" pitchFamily="2" charset="0"/>
                <a:cs typeface="ALS Sector Bold" pitchFamily="2" charset="0"/>
              </a:endParaRPr>
            </a:p>
          </p:txBody>
        </p:sp>
        <p:sp>
          <p:nvSpPr>
            <p:cNvPr id="69" name="Прямоугольник 58">
              <a:extLst>
                <a:ext uri="{FF2B5EF4-FFF2-40B4-BE49-F238E27FC236}">
                  <a16:creationId xmlns:a16="http://schemas.microsoft.com/office/drawing/2014/main" xmlns="" id="{96789138-2397-49AA-BF3A-A6B5B90E8840}"/>
                </a:ext>
              </a:extLst>
            </p:cNvPr>
            <p:cNvSpPr/>
            <p:nvPr/>
          </p:nvSpPr>
          <p:spPr>
            <a:xfrm rot="10800000" flipH="1">
              <a:off x="1476754" y="3499669"/>
              <a:ext cx="7657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65C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LS Sector Regular" panose="02000000000000000000" pitchFamily="2" charset="0"/>
              </a:endParaRPr>
            </a:p>
          </p:txBody>
        </p:sp>
        <p:sp>
          <p:nvSpPr>
            <p:cNvPr id="70" name="Прямоугольник 58">
              <a:extLst>
                <a:ext uri="{FF2B5EF4-FFF2-40B4-BE49-F238E27FC236}">
                  <a16:creationId xmlns:a16="http://schemas.microsoft.com/office/drawing/2014/main" xmlns="" id="{DA239952-60E1-45EB-BDF0-422CC4CF7E4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005951" y="3499669"/>
              <a:ext cx="9004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046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rgbClr val="065CAB"/>
                </a:solidFill>
                <a:latin typeface="ALS Sector Regular" panose="02000000000000000000" pitchFamily="2" charset="0"/>
              </a:endParaRPr>
            </a:p>
          </p:txBody>
        </p:sp>
      </p:grp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xmlns="" id="{06555008-558A-4705-ADA6-A99A535D9A1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2</a:t>
            </a:fld>
            <a:endParaRPr lang="ru-RU" dirty="0"/>
          </a:p>
        </p:txBody>
      </p:sp>
      <p:sp>
        <p:nvSpPr>
          <p:cNvPr id="11" name="Google Shape;125;p4">
            <a:extLst>
              <a:ext uri="{FF2B5EF4-FFF2-40B4-BE49-F238E27FC236}">
                <a16:creationId xmlns:a16="http://schemas.microsoft.com/office/drawing/2014/main" xmlns="" id="{60669A83-F90E-4A4C-BA00-13CC73D4042F}"/>
              </a:ext>
            </a:extLst>
          </p:cNvPr>
          <p:cNvSpPr/>
          <p:nvPr/>
        </p:nvSpPr>
        <p:spPr>
          <a:xfrm>
            <a:off x="1408143" y="2155138"/>
            <a:ext cx="9454259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ru-RU" sz="1600" dirty="0"/>
              <a:t>Обучить алгоритм машинного обучения, который будет определять </a:t>
            </a:r>
            <a:r>
              <a:rPr lang="ru-RU" sz="1600" dirty="0" smtClean="0"/>
              <a:t>значения модуля </a:t>
            </a:r>
            <a:r>
              <a:rPr lang="ru-RU" sz="1600" dirty="0"/>
              <a:t>упругости </a:t>
            </a:r>
            <a:r>
              <a:rPr lang="ru-RU" sz="1600" dirty="0" smtClean="0"/>
              <a:t>и прочности </a:t>
            </a:r>
            <a:r>
              <a:rPr lang="ru-RU" sz="1600" dirty="0"/>
              <a:t>при </a:t>
            </a:r>
            <a:r>
              <a:rPr lang="ru-RU" sz="1600" dirty="0" smtClean="0"/>
              <a:t>растяжении.</a:t>
            </a:r>
            <a:endParaRPr lang="ru-RU" sz="1600" dirty="0"/>
          </a:p>
        </p:txBody>
      </p:sp>
      <p:grpSp>
        <p:nvGrpSpPr>
          <p:cNvPr id="36" name="Группа 35">
            <a:extLst>
              <a:ext uri="{FF2B5EF4-FFF2-40B4-BE49-F238E27FC236}">
                <a16:creationId xmlns:a16="http://schemas.microsoft.com/office/drawing/2014/main" xmlns="" id="{066B2AF8-B3BB-4E6C-B4EF-BA91A7149C6E}"/>
              </a:ext>
            </a:extLst>
          </p:cNvPr>
          <p:cNvGrpSpPr/>
          <p:nvPr/>
        </p:nvGrpSpPr>
        <p:grpSpPr>
          <a:xfrm>
            <a:off x="591259" y="3090253"/>
            <a:ext cx="450202" cy="685765"/>
            <a:chOff x="623996" y="1592262"/>
            <a:chExt cx="333947" cy="508681"/>
          </a:xfrm>
        </p:grpSpPr>
        <p:cxnSp>
          <p:nvCxnSpPr>
            <p:cNvPr id="37" name="Google Shape;123;p4">
              <a:extLst>
                <a:ext uri="{FF2B5EF4-FFF2-40B4-BE49-F238E27FC236}">
                  <a16:creationId xmlns:a16="http://schemas.microsoft.com/office/drawing/2014/main" xmlns="" id="{B2BB743C-20D7-4E69-AAE1-54C42970370B}"/>
                </a:ext>
              </a:extLst>
            </p:cNvPr>
            <p:cNvCxnSpPr>
              <a:cxnSpLocks/>
            </p:cNvCxnSpPr>
            <p:nvPr/>
          </p:nvCxnSpPr>
          <p:spPr>
            <a:xfrm>
              <a:off x="623996" y="1592262"/>
              <a:ext cx="0" cy="508681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8" name="Google Shape;124;p4">
              <a:extLst>
                <a:ext uri="{FF2B5EF4-FFF2-40B4-BE49-F238E27FC236}">
                  <a16:creationId xmlns:a16="http://schemas.microsoft.com/office/drawing/2014/main" xmlns="" id="{A09E8948-234F-49EF-B8ED-B3C480E04917}"/>
                </a:ext>
              </a:extLst>
            </p:cNvPr>
            <p:cNvCxnSpPr>
              <a:cxnSpLocks/>
            </p:cNvCxnSpPr>
            <p:nvPr/>
          </p:nvCxnSpPr>
          <p:spPr>
            <a:xfrm>
              <a:off x="623996" y="1592262"/>
              <a:ext cx="333947" cy="0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9" name="Google Shape;126;p4">
              <a:extLst>
                <a:ext uri="{FF2B5EF4-FFF2-40B4-BE49-F238E27FC236}">
                  <a16:creationId xmlns:a16="http://schemas.microsoft.com/office/drawing/2014/main" xmlns="" id="{DE776E1C-0C20-43D2-8A38-628879EB82A4}"/>
                </a:ext>
              </a:extLst>
            </p:cNvPr>
            <p:cNvCxnSpPr>
              <a:cxnSpLocks/>
            </p:cNvCxnSpPr>
            <p:nvPr/>
          </p:nvCxnSpPr>
          <p:spPr>
            <a:xfrm>
              <a:off x="623996" y="2093005"/>
              <a:ext cx="333947" cy="0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40" name="Группа 39">
            <a:extLst>
              <a:ext uri="{FF2B5EF4-FFF2-40B4-BE49-F238E27FC236}">
                <a16:creationId xmlns:a16="http://schemas.microsoft.com/office/drawing/2014/main" xmlns="" id="{A61F8772-5670-475E-90AF-084D02A24E45}"/>
              </a:ext>
            </a:extLst>
          </p:cNvPr>
          <p:cNvGrpSpPr/>
          <p:nvPr/>
        </p:nvGrpSpPr>
        <p:grpSpPr>
          <a:xfrm>
            <a:off x="591259" y="4044267"/>
            <a:ext cx="450202" cy="685765"/>
            <a:chOff x="623996" y="1592262"/>
            <a:chExt cx="333947" cy="508681"/>
          </a:xfrm>
        </p:grpSpPr>
        <p:cxnSp>
          <p:nvCxnSpPr>
            <p:cNvPr id="41" name="Google Shape;123;p4">
              <a:extLst>
                <a:ext uri="{FF2B5EF4-FFF2-40B4-BE49-F238E27FC236}">
                  <a16:creationId xmlns:a16="http://schemas.microsoft.com/office/drawing/2014/main" xmlns="" id="{31FD4C9E-5F69-4810-A00B-E211610CB36A}"/>
                </a:ext>
              </a:extLst>
            </p:cNvPr>
            <p:cNvCxnSpPr>
              <a:cxnSpLocks/>
            </p:cNvCxnSpPr>
            <p:nvPr/>
          </p:nvCxnSpPr>
          <p:spPr>
            <a:xfrm>
              <a:off x="623996" y="1592262"/>
              <a:ext cx="0" cy="508681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2" name="Google Shape;124;p4">
              <a:extLst>
                <a:ext uri="{FF2B5EF4-FFF2-40B4-BE49-F238E27FC236}">
                  <a16:creationId xmlns:a16="http://schemas.microsoft.com/office/drawing/2014/main" xmlns="" id="{1B688AC3-F620-4E8E-B8F1-1B14FAE7C0C2}"/>
                </a:ext>
              </a:extLst>
            </p:cNvPr>
            <p:cNvCxnSpPr>
              <a:cxnSpLocks/>
            </p:cNvCxnSpPr>
            <p:nvPr/>
          </p:nvCxnSpPr>
          <p:spPr>
            <a:xfrm>
              <a:off x="623996" y="1592262"/>
              <a:ext cx="333947" cy="0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3" name="Google Shape;126;p4">
              <a:extLst>
                <a:ext uri="{FF2B5EF4-FFF2-40B4-BE49-F238E27FC236}">
                  <a16:creationId xmlns:a16="http://schemas.microsoft.com/office/drawing/2014/main" xmlns="" id="{87B9060E-A604-4528-B297-A9EBC00AAAD6}"/>
                </a:ext>
              </a:extLst>
            </p:cNvPr>
            <p:cNvCxnSpPr>
              <a:cxnSpLocks/>
            </p:cNvCxnSpPr>
            <p:nvPr/>
          </p:nvCxnSpPr>
          <p:spPr>
            <a:xfrm>
              <a:off x="623996" y="2093005"/>
              <a:ext cx="333947" cy="0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52" name="Google Shape;125;p4">
            <a:extLst>
              <a:ext uri="{FF2B5EF4-FFF2-40B4-BE49-F238E27FC236}">
                <a16:creationId xmlns:a16="http://schemas.microsoft.com/office/drawing/2014/main" xmlns="" id="{B392D556-B476-4E1F-958C-31EE7B16300D}"/>
              </a:ext>
            </a:extLst>
          </p:cNvPr>
          <p:cNvSpPr/>
          <p:nvPr/>
        </p:nvSpPr>
        <p:spPr>
          <a:xfrm>
            <a:off x="1440620" y="3259431"/>
            <a:ext cx="9421782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ru-RU" sz="1600" dirty="0" smtClean="0"/>
              <a:t>Н</a:t>
            </a:r>
            <a:r>
              <a:rPr lang="x-none" sz="1600" smtClean="0"/>
              <a:t>аписать </a:t>
            </a:r>
            <a:r>
              <a:rPr lang="x-none" sz="1600"/>
              <a:t>нейронную сеть, которая будет рекомендовать </a:t>
            </a:r>
            <a:r>
              <a:rPr lang="x-none" sz="1600"/>
              <a:t>соотношение </a:t>
            </a:r>
            <a:r>
              <a:rPr lang="x-none" sz="1600" smtClean="0"/>
              <a:t>матрица</a:t>
            </a:r>
            <a:r>
              <a:rPr lang="ru-RU" sz="1600" dirty="0" smtClean="0"/>
              <a:t>/</a:t>
            </a:r>
            <a:r>
              <a:rPr lang="x-none" sz="1600" smtClean="0"/>
              <a:t>наполнитель</a:t>
            </a:r>
            <a:r>
              <a:rPr lang="ru-RU" sz="1600" dirty="0" smtClean="0"/>
              <a:t>.</a:t>
            </a:r>
            <a:endParaRPr lang="ru-RU" sz="1600" dirty="0"/>
          </a:p>
        </p:txBody>
      </p:sp>
      <p:sp>
        <p:nvSpPr>
          <p:cNvPr id="53" name="Google Shape;127;p4">
            <a:extLst>
              <a:ext uri="{FF2B5EF4-FFF2-40B4-BE49-F238E27FC236}">
                <a16:creationId xmlns:a16="http://schemas.microsoft.com/office/drawing/2014/main" xmlns="" id="{BCF65B5B-0337-4C73-B9BB-A05F6916D064}"/>
              </a:ext>
            </a:extLst>
          </p:cNvPr>
          <p:cNvSpPr/>
          <p:nvPr/>
        </p:nvSpPr>
        <p:spPr>
          <a:xfrm>
            <a:off x="876414" y="3340875"/>
            <a:ext cx="107768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baseline="30000" dirty="0">
                <a:solidFill>
                  <a:srgbClr val="065CAB"/>
                </a:solidFill>
                <a:latin typeface="+mn-lt"/>
                <a:ea typeface="Arial"/>
                <a:cs typeface="Arial"/>
                <a:sym typeface="Arial"/>
              </a:rPr>
              <a:t>2</a:t>
            </a:r>
            <a:endParaRPr sz="3600" baseline="30000" dirty="0">
              <a:solidFill>
                <a:srgbClr val="065CAB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54" name="Google Shape;125;p4">
            <a:extLst>
              <a:ext uri="{FF2B5EF4-FFF2-40B4-BE49-F238E27FC236}">
                <a16:creationId xmlns:a16="http://schemas.microsoft.com/office/drawing/2014/main" xmlns="" id="{4BBDCECC-7AC6-4E39-B4A9-A7C1308CD1E4}"/>
              </a:ext>
            </a:extLst>
          </p:cNvPr>
          <p:cNvSpPr/>
          <p:nvPr/>
        </p:nvSpPr>
        <p:spPr>
          <a:xfrm>
            <a:off x="1440620" y="4094781"/>
            <a:ext cx="9193182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ru-RU" sz="1600" dirty="0"/>
              <a:t>Н</a:t>
            </a:r>
            <a:r>
              <a:rPr lang="x-none" sz="1600" smtClean="0"/>
              <a:t>аписать </a:t>
            </a:r>
            <a:r>
              <a:rPr lang="x-none" sz="1600"/>
              <a:t>приложение, которое будет выдавать прогноз соотношения матрица-наполнитель после </a:t>
            </a:r>
            <a:r>
              <a:rPr lang="x-none" sz="1600"/>
              <a:t>введения </a:t>
            </a:r>
            <a:r>
              <a:rPr lang="ru-RU" sz="1600" dirty="0"/>
              <a:t>12 параметров композитного </a:t>
            </a:r>
            <a:r>
              <a:rPr lang="ru-RU" sz="1600" dirty="0" smtClean="0"/>
              <a:t>материала и </a:t>
            </a:r>
            <a:r>
              <a:rPr lang="ru-RU" sz="1600" dirty="0"/>
              <a:t>его компонентов</a:t>
            </a:r>
            <a:r>
              <a:rPr lang="ru-RU" sz="1600" dirty="0" smtClean="0"/>
              <a:t>.</a:t>
            </a:r>
            <a:endParaRPr lang="ru-RU" sz="1600" dirty="0"/>
          </a:p>
        </p:txBody>
      </p:sp>
      <p:sp>
        <p:nvSpPr>
          <p:cNvPr id="55" name="Google Shape;127;p4">
            <a:extLst>
              <a:ext uri="{FF2B5EF4-FFF2-40B4-BE49-F238E27FC236}">
                <a16:creationId xmlns:a16="http://schemas.microsoft.com/office/drawing/2014/main" xmlns="" id="{09A3BA78-83A5-439F-80AC-98893E52CA81}"/>
              </a:ext>
            </a:extLst>
          </p:cNvPr>
          <p:cNvSpPr/>
          <p:nvPr/>
        </p:nvSpPr>
        <p:spPr>
          <a:xfrm>
            <a:off x="876414" y="4310721"/>
            <a:ext cx="107768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baseline="30000" dirty="0">
                <a:solidFill>
                  <a:srgbClr val="065CAB"/>
                </a:solidFill>
                <a:latin typeface="+mn-lt"/>
                <a:ea typeface="Arial"/>
                <a:cs typeface="Arial"/>
                <a:sym typeface="Arial"/>
              </a:rPr>
              <a:t>3</a:t>
            </a:r>
            <a:endParaRPr sz="3600" baseline="30000" dirty="0">
              <a:solidFill>
                <a:srgbClr val="065CAB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grpSp>
        <p:nvGrpSpPr>
          <p:cNvPr id="60" name="Группа 59">
            <a:extLst>
              <a:ext uri="{FF2B5EF4-FFF2-40B4-BE49-F238E27FC236}">
                <a16:creationId xmlns:a16="http://schemas.microsoft.com/office/drawing/2014/main" xmlns="" id="{CEB208F7-621F-4826-AC02-D9ACF56C2556}"/>
              </a:ext>
            </a:extLst>
          </p:cNvPr>
          <p:cNvGrpSpPr/>
          <p:nvPr/>
        </p:nvGrpSpPr>
        <p:grpSpPr>
          <a:xfrm>
            <a:off x="591259" y="2104624"/>
            <a:ext cx="450202" cy="685765"/>
            <a:chOff x="623996" y="1592262"/>
            <a:chExt cx="333947" cy="508681"/>
          </a:xfrm>
        </p:grpSpPr>
        <p:cxnSp>
          <p:nvCxnSpPr>
            <p:cNvPr id="61" name="Google Shape;123;p4">
              <a:extLst>
                <a:ext uri="{FF2B5EF4-FFF2-40B4-BE49-F238E27FC236}">
                  <a16:creationId xmlns:a16="http://schemas.microsoft.com/office/drawing/2014/main" xmlns="" id="{C80DFF66-7760-463A-A6E3-7A4A06739A6B}"/>
                </a:ext>
              </a:extLst>
            </p:cNvPr>
            <p:cNvCxnSpPr>
              <a:cxnSpLocks/>
            </p:cNvCxnSpPr>
            <p:nvPr/>
          </p:nvCxnSpPr>
          <p:spPr>
            <a:xfrm>
              <a:off x="623996" y="1592262"/>
              <a:ext cx="0" cy="508681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2" name="Google Shape;124;p4">
              <a:extLst>
                <a:ext uri="{FF2B5EF4-FFF2-40B4-BE49-F238E27FC236}">
                  <a16:creationId xmlns:a16="http://schemas.microsoft.com/office/drawing/2014/main" xmlns="" id="{537A8DBB-64CB-4C54-9816-C8AB9CEF9F83}"/>
                </a:ext>
              </a:extLst>
            </p:cNvPr>
            <p:cNvCxnSpPr>
              <a:cxnSpLocks/>
            </p:cNvCxnSpPr>
            <p:nvPr/>
          </p:nvCxnSpPr>
          <p:spPr>
            <a:xfrm>
              <a:off x="623996" y="1592262"/>
              <a:ext cx="333947" cy="0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3" name="Google Shape;126;p4">
              <a:extLst>
                <a:ext uri="{FF2B5EF4-FFF2-40B4-BE49-F238E27FC236}">
                  <a16:creationId xmlns:a16="http://schemas.microsoft.com/office/drawing/2014/main" xmlns="" id="{5EA94F71-5A4A-461B-84A6-89FA43FE7B61}"/>
                </a:ext>
              </a:extLst>
            </p:cNvPr>
            <p:cNvCxnSpPr>
              <a:cxnSpLocks/>
            </p:cNvCxnSpPr>
            <p:nvPr/>
          </p:nvCxnSpPr>
          <p:spPr>
            <a:xfrm>
              <a:off x="623996" y="2093005"/>
              <a:ext cx="333947" cy="0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64" name="Google Shape;127;p4">
            <a:extLst>
              <a:ext uri="{FF2B5EF4-FFF2-40B4-BE49-F238E27FC236}">
                <a16:creationId xmlns:a16="http://schemas.microsoft.com/office/drawing/2014/main" xmlns="" id="{52F47E68-BBBA-4D50-92F9-0A84552519B8}"/>
              </a:ext>
            </a:extLst>
          </p:cNvPr>
          <p:cNvSpPr/>
          <p:nvPr/>
        </p:nvSpPr>
        <p:spPr>
          <a:xfrm>
            <a:off x="876414" y="2355246"/>
            <a:ext cx="107768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b="1" baseline="30000" dirty="0">
                <a:solidFill>
                  <a:srgbClr val="065CAB"/>
                </a:solidFill>
                <a:latin typeface="+mn-lt"/>
                <a:ea typeface="Arial"/>
                <a:cs typeface="Arial"/>
                <a:sym typeface="Arial"/>
              </a:rPr>
              <a:t>1</a:t>
            </a:r>
            <a:endParaRPr sz="3600" baseline="30000" dirty="0">
              <a:solidFill>
                <a:srgbClr val="065CAB"/>
              </a:solidFill>
              <a:latin typeface="+mn-lt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13928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3">
            <a:extLst>
              <a:ext uri="{FF2B5EF4-FFF2-40B4-BE49-F238E27FC236}">
                <a16:creationId xmlns:a16="http://schemas.microsoft.com/office/drawing/2014/main" xmlns="" id="{542A9EF0-C372-49E0-A6DB-C1F10C19AAB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273628" y="6434051"/>
            <a:ext cx="570309" cy="275255"/>
          </a:xfrm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3</a:t>
            </a:fld>
            <a:endParaRPr lang="ru-RU" dirty="0"/>
          </a:p>
        </p:txBody>
      </p:sp>
      <p:sp>
        <p:nvSpPr>
          <p:cNvPr id="9" name="Google Shape;173;p7">
            <a:extLst>
              <a:ext uri="{FF2B5EF4-FFF2-40B4-BE49-F238E27FC236}">
                <a16:creationId xmlns:a16="http://schemas.microsoft.com/office/drawing/2014/main" xmlns="" id="{A67C8FEC-09C6-468D-9E95-239BC9E9DFA0}"/>
              </a:ext>
            </a:extLst>
          </p:cNvPr>
          <p:cNvSpPr txBox="1"/>
          <p:nvPr/>
        </p:nvSpPr>
        <p:spPr>
          <a:xfrm>
            <a:off x="461150" y="2048680"/>
            <a:ext cx="9661418" cy="4354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725" tIns="38350" rIns="76725" bIns="38350" anchor="t" anchorCtr="0">
            <a:noAutofit/>
          </a:bodyPr>
          <a:lstStyle/>
          <a:p>
            <a:pPr marL="342900" lvl="0" indent="-342900">
              <a:lnSpc>
                <a:spcPct val="90000"/>
              </a:lnSpc>
              <a:buSzPts val="2700"/>
              <a:buFont typeface="Arial" panose="020B0604020202020204" pitchFamily="34" charset="0"/>
              <a:buChar char="•"/>
            </a:pPr>
            <a:r>
              <a:rPr lang="ru-RU" sz="2200" dirty="0" smtClean="0">
                <a:solidFill>
                  <a:srgbClr val="262626"/>
                </a:solidFill>
                <a:latin typeface="+mn-lt"/>
                <a:ea typeface="Open Sans"/>
                <a:cs typeface="ALS Sector Regular" panose="02000000000000000000" pitchFamily="2" charset="0"/>
                <a:sym typeface="Open Sans"/>
              </a:rPr>
              <a:t>краткая </a:t>
            </a:r>
            <a:r>
              <a:rPr lang="ru-RU" sz="2200" dirty="0">
                <a:solidFill>
                  <a:srgbClr val="262626"/>
                </a:solidFill>
                <a:latin typeface="+mn-lt"/>
                <a:ea typeface="Open Sans"/>
                <a:cs typeface="ALS Sector Regular" panose="02000000000000000000" pitchFamily="2" charset="0"/>
                <a:sym typeface="Open Sans"/>
              </a:rPr>
              <a:t>сводка о структуре данных (размер </a:t>
            </a:r>
            <a:r>
              <a:rPr lang="ru-RU" sz="2200" dirty="0" err="1">
                <a:solidFill>
                  <a:srgbClr val="262626"/>
                </a:solidFill>
                <a:latin typeface="+mn-lt"/>
                <a:ea typeface="Open Sans"/>
                <a:cs typeface="ALS Sector Regular" panose="02000000000000000000" pitchFamily="2" charset="0"/>
                <a:sym typeface="Open Sans"/>
              </a:rPr>
              <a:t>датасета</a:t>
            </a:r>
            <a:r>
              <a:rPr lang="ru-RU" sz="2200" dirty="0">
                <a:solidFill>
                  <a:srgbClr val="262626"/>
                </a:solidFill>
                <a:latin typeface="+mn-lt"/>
                <a:ea typeface="Open Sans"/>
                <a:cs typeface="ALS Sector Regular" panose="02000000000000000000" pitchFamily="2" charset="0"/>
                <a:sym typeface="Open Sans"/>
              </a:rPr>
              <a:t>, тип данных, список признаков</a:t>
            </a:r>
            <a:r>
              <a:rPr lang="ru-RU" sz="2200" dirty="0" smtClean="0">
                <a:solidFill>
                  <a:srgbClr val="262626"/>
                </a:solidFill>
                <a:latin typeface="+mn-lt"/>
                <a:ea typeface="Open Sans"/>
                <a:cs typeface="ALS Sector Regular" panose="02000000000000000000" pitchFamily="2" charset="0"/>
                <a:sym typeface="Open Sans"/>
              </a:rPr>
              <a:t>)</a:t>
            </a:r>
            <a:endParaRPr lang="ru-RU" sz="2200" dirty="0">
              <a:solidFill>
                <a:srgbClr val="262626"/>
              </a:solidFill>
              <a:latin typeface="+mn-lt"/>
              <a:ea typeface="Open Sans"/>
              <a:cs typeface="ALS Sector Regular" panose="02000000000000000000" pitchFamily="2" charset="0"/>
              <a:sym typeface="Open Sans"/>
            </a:endParaRPr>
          </a:p>
          <a:p>
            <a:pPr marL="342900" lvl="0" indent="-342900">
              <a:lnSpc>
                <a:spcPct val="90000"/>
              </a:lnSpc>
              <a:buSzPts val="2700"/>
              <a:buFont typeface="Arial" panose="020B0604020202020204" pitchFamily="34" charset="0"/>
              <a:buChar char="•"/>
            </a:pPr>
            <a:r>
              <a:rPr lang="ru-RU" sz="2200" dirty="0" smtClean="0">
                <a:solidFill>
                  <a:srgbClr val="262626"/>
                </a:solidFill>
                <a:latin typeface="+mn-lt"/>
                <a:ea typeface="Open Sans"/>
                <a:cs typeface="ALS Sector Regular" panose="02000000000000000000" pitchFamily="2" charset="0"/>
                <a:sym typeface="Open Sans"/>
              </a:rPr>
              <a:t>анализ </a:t>
            </a:r>
            <a:r>
              <a:rPr lang="ru-RU" sz="2200" dirty="0">
                <a:solidFill>
                  <a:srgbClr val="262626"/>
                </a:solidFill>
                <a:latin typeface="+mn-lt"/>
                <a:ea typeface="Open Sans"/>
                <a:cs typeface="ALS Sector Regular" panose="02000000000000000000" pitchFamily="2" charset="0"/>
                <a:sym typeface="Open Sans"/>
              </a:rPr>
              <a:t>наличия пропущенных </a:t>
            </a:r>
            <a:r>
              <a:rPr lang="ru-RU" sz="2200" dirty="0" smtClean="0">
                <a:solidFill>
                  <a:srgbClr val="262626"/>
                </a:solidFill>
                <a:latin typeface="+mn-lt"/>
                <a:ea typeface="Open Sans"/>
                <a:cs typeface="ALS Sector Regular" panose="02000000000000000000" pitchFamily="2" charset="0"/>
                <a:sym typeface="Open Sans"/>
              </a:rPr>
              <a:t>значений</a:t>
            </a:r>
            <a:endParaRPr lang="ru-RU" sz="2200" dirty="0">
              <a:solidFill>
                <a:srgbClr val="262626"/>
              </a:solidFill>
              <a:latin typeface="+mn-lt"/>
              <a:ea typeface="Open Sans"/>
              <a:cs typeface="ALS Sector Regular" panose="02000000000000000000" pitchFamily="2" charset="0"/>
              <a:sym typeface="Open Sans"/>
            </a:endParaRPr>
          </a:p>
          <a:p>
            <a:pPr marL="342900" lvl="0" indent="-342900">
              <a:lnSpc>
                <a:spcPct val="90000"/>
              </a:lnSpc>
              <a:buSzPts val="2700"/>
              <a:buFont typeface="Arial" panose="020B0604020202020204" pitchFamily="34" charset="0"/>
              <a:buChar char="•"/>
            </a:pPr>
            <a:r>
              <a:rPr lang="ru-RU" sz="2200" dirty="0" smtClean="0">
                <a:solidFill>
                  <a:srgbClr val="262626"/>
                </a:solidFill>
                <a:latin typeface="+mn-lt"/>
                <a:ea typeface="Open Sans"/>
                <a:cs typeface="ALS Sector Regular" panose="02000000000000000000" pitchFamily="2" charset="0"/>
                <a:sym typeface="Open Sans"/>
              </a:rPr>
              <a:t>анализ </a:t>
            </a:r>
            <a:r>
              <a:rPr lang="ru-RU" sz="2200" dirty="0">
                <a:solidFill>
                  <a:srgbClr val="262626"/>
                </a:solidFill>
                <a:latin typeface="+mn-lt"/>
                <a:ea typeface="Open Sans"/>
                <a:cs typeface="ALS Sector Regular" panose="02000000000000000000" pitchFamily="2" charset="0"/>
                <a:sym typeface="Open Sans"/>
              </a:rPr>
              <a:t>наличия </a:t>
            </a:r>
            <a:r>
              <a:rPr lang="ru-RU" sz="2200" dirty="0" smtClean="0">
                <a:solidFill>
                  <a:srgbClr val="262626"/>
                </a:solidFill>
                <a:latin typeface="+mn-lt"/>
                <a:ea typeface="Open Sans"/>
                <a:cs typeface="ALS Sector Regular" panose="02000000000000000000" pitchFamily="2" charset="0"/>
                <a:sym typeface="Open Sans"/>
              </a:rPr>
              <a:t>дубликатов</a:t>
            </a:r>
            <a:endParaRPr lang="ru-RU" sz="2200" dirty="0">
              <a:solidFill>
                <a:srgbClr val="262626"/>
              </a:solidFill>
              <a:latin typeface="+mn-lt"/>
              <a:ea typeface="Open Sans"/>
              <a:cs typeface="ALS Sector Regular" panose="02000000000000000000" pitchFamily="2" charset="0"/>
              <a:sym typeface="Open Sans"/>
            </a:endParaRPr>
          </a:p>
          <a:p>
            <a:pPr marL="342900" lvl="0" indent="-342900">
              <a:lnSpc>
                <a:spcPct val="90000"/>
              </a:lnSpc>
              <a:buSzPts val="2700"/>
              <a:buFont typeface="Arial" panose="020B0604020202020204" pitchFamily="34" charset="0"/>
              <a:buChar char="•"/>
            </a:pPr>
            <a:r>
              <a:rPr lang="ru-RU" sz="2200" dirty="0" smtClean="0">
                <a:solidFill>
                  <a:srgbClr val="262626"/>
                </a:solidFill>
                <a:latin typeface="+mn-lt"/>
                <a:ea typeface="Open Sans"/>
                <a:cs typeface="ALS Sector Regular" panose="02000000000000000000" pitchFamily="2" charset="0"/>
                <a:sym typeface="Open Sans"/>
              </a:rPr>
              <a:t>анализ </a:t>
            </a:r>
            <a:r>
              <a:rPr lang="ru-RU" sz="2200" dirty="0">
                <a:solidFill>
                  <a:srgbClr val="262626"/>
                </a:solidFill>
                <a:latin typeface="+mn-lt"/>
                <a:ea typeface="Open Sans"/>
                <a:cs typeface="ALS Sector Regular" panose="02000000000000000000" pitchFamily="2" charset="0"/>
                <a:sym typeface="Open Sans"/>
              </a:rPr>
              <a:t>количества уникальных значений переменных;</a:t>
            </a:r>
          </a:p>
          <a:p>
            <a:pPr marL="342900" lvl="0" indent="-342900">
              <a:lnSpc>
                <a:spcPct val="90000"/>
              </a:lnSpc>
              <a:buSzPts val="2700"/>
              <a:buFont typeface="Arial" panose="020B0604020202020204" pitchFamily="34" charset="0"/>
              <a:buChar char="•"/>
            </a:pPr>
            <a:r>
              <a:rPr lang="ru-RU" sz="2200" dirty="0" smtClean="0">
                <a:solidFill>
                  <a:srgbClr val="262626"/>
                </a:solidFill>
                <a:latin typeface="+mn-lt"/>
                <a:ea typeface="Open Sans"/>
                <a:cs typeface="ALS Sector Regular" panose="02000000000000000000" pitchFamily="2" charset="0"/>
                <a:sym typeface="Open Sans"/>
              </a:rPr>
              <a:t>оценка </a:t>
            </a:r>
            <a:r>
              <a:rPr lang="ru-RU" sz="2200" dirty="0">
                <a:solidFill>
                  <a:srgbClr val="262626"/>
                </a:solidFill>
                <a:latin typeface="+mn-lt"/>
                <a:ea typeface="Open Sans"/>
                <a:cs typeface="ALS Sector Regular" panose="02000000000000000000" pitchFamily="2" charset="0"/>
                <a:sym typeface="Open Sans"/>
              </a:rPr>
              <a:t>статистических характеристик для каждого признака;</a:t>
            </a:r>
          </a:p>
          <a:p>
            <a:pPr marL="342900" lvl="0" indent="-342900">
              <a:lnSpc>
                <a:spcPct val="90000"/>
              </a:lnSpc>
              <a:buSzPts val="2700"/>
              <a:buFont typeface="Arial" panose="020B0604020202020204" pitchFamily="34" charset="0"/>
              <a:buChar char="•"/>
            </a:pPr>
            <a:r>
              <a:rPr lang="ru-RU" sz="2200" dirty="0" smtClean="0">
                <a:solidFill>
                  <a:srgbClr val="262626"/>
                </a:solidFill>
                <a:latin typeface="+mn-lt"/>
                <a:ea typeface="Open Sans"/>
                <a:cs typeface="ALS Sector Regular" panose="02000000000000000000" pitchFamily="2" charset="0"/>
                <a:sym typeface="Open Sans"/>
              </a:rPr>
              <a:t>гистограммы </a:t>
            </a:r>
            <a:r>
              <a:rPr lang="ru-RU" sz="2200" dirty="0">
                <a:solidFill>
                  <a:srgbClr val="262626"/>
                </a:solidFill>
                <a:latin typeface="+mn-lt"/>
                <a:ea typeface="Open Sans"/>
                <a:cs typeface="ALS Sector Regular" panose="02000000000000000000" pitchFamily="2" charset="0"/>
                <a:sym typeface="Open Sans"/>
              </a:rPr>
              <a:t>распределений для каждого </a:t>
            </a:r>
            <a:r>
              <a:rPr lang="ru-RU" sz="2200" dirty="0" smtClean="0">
                <a:solidFill>
                  <a:srgbClr val="262626"/>
                </a:solidFill>
                <a:latin typeface="+mn-lt"/>
                <a:ea typeface="Open Sans"/>
                <a:cs typeface="ALS Sector Regular" panose="02000000000000000000" pitchFamily="2" charset="0"/>
                <a:sym typeface="Open Sans"/>
              </a:rPr>
              <a:t>признака</a:t>
            </a:r>
            <a:endParaRPr lang="ru-RU" sz="2200" dirty="0">
              <a:solidFill>
                <a:srgbClr val="262626"/>
              </a:solidFill>
              <a:latin typeface="+mn-lt"/>
              <a:ea typeface="Open Sans"/>
              <a:cs typeface="ALS Sector Regular" panose="02000000000000000000" pitchFamily="2" charset="0"/>
              <a:sym typeface="Open Sans"/>
            </a:endParaRPr>
          </a:p>
          <a:p>
            <a:pPr marL="342900" lvl="0" indent="-342900">
              <a:lnSpc>
                <a:spcPct val="90000"/>
              </a:lnSpc>
              <a:buSzPts val="2700"/>
              <a:buFont typeface="Arial" panose="020B0604020202020204" pitchFamily="34" charset="0"/>
              <a:buChar char="•"/>
            </a:pPr>
            <a:r>
              <a:rPr lang="ru-RU" sz="2200" dirty="0" smtClean="0">
                <a:solidFill>
                  <a:srgbClr val="262626"/>
                </a:solidFill>
                <a:latin typeface="+mn-lt"/>
                <a:ea typeface="Open Sans"/>
                <a:cs typeface="ALS Sector Regular" panose="02000000000000000000" pitchFamily="2" charset="0"/>
                <a:sym typeface="Open Sans"/>
              </a:rPr>
              <a:t>диаграммы </a:t>
            </a:r>
            <a:r>
              <a:rPr lang="ru-RU" sz="2200" dirty="0">
                <a:solidFill>
                  <a:srgbClr val="262626"/>
                </a:solidFill>
                <a:latin typeface="+mn-lt"/>
                <a:ea typeface="Open Sans"/>
                <a:cs typeface="ALS Sector Regular" panose="02000000000000000000" pitchFamily="2" charset="0"/>
                <a:sym typeface="Open Sans"/>
              </a:rPr>
              <a:t>типа «ящика с усами» для каждого </a:t>
            </a:r>
            <a:r>
              <a:rPr lang="ru-RU" sz="2200" dirty="0" smtClean="0">
                <a:solidFill>
                  <a:srgbClr val="262626"/>
                </a:solidFill>
                <a:latin typeface="+mn-lt"/>
                <a:ea typeface="Open Sans"/>
                <a:cs typeface="ALS Sector Regular" panose="02000000000000000000" pitchFamily="2" charset="0"/>
                <a:sym typeface="Open Sans"/>
              </a:rPr>
              <a:t>признака</a:t>
            </a:r>
            <a:endParaRPr lang="ru-RU" sz="2200" dirty="0">
              <a:solidFill>
                <a:srgbClr val="262626"/>
              </a:solidFill>
              <a:latin typeface="+mn-lt"/>
              <a:ea typeface="Open Sans"/>
              <a:cs typeface="ALS Sector Regular" panose="02000000000000000000" pitchFamily="2" charset="0"/>
              <a:sym typeface="Open Sans"/>
            </a:endParaRPr>
          </a:p>
          <a:p>
            <a:pPr marL="342900" lvl="0" indent="-342900">
              <a:lnSpc>
                <a:spcPct val="90000"/>
              </a:lnSpc>
              <a:buSzPts val="2700"/>
              <a:buFont typeface="Arial" panose="020B0604020202020204" pitchFamily="34" charset="0"/>
              <a:buChar char="•"/>
            </a:pPr>
            <a:r>
              <a:rPr lang="ru-RU" sz="2200" dirty="0" smtClean="0">
                <a:solidFill>
                  <a:srgbClr val="262626"/>
                </a:solidFill>
                <a:latin typeface="+mn-lt"/>
                <a:ea typeface="Open Sans"/>
                <a:cs typeface="ALS Sector Regular" panose="02000000000000000000" pitchFamily="2" charset="0"/>
                <a:sym typeface="Open Sans"/>
              </a:rPr>
              <a:t>попарные </a:t>
            </a:r>
            <a:r>
              <a:rPr lang="ru-RU" sz="2200" dirty="0">
                <a:solidFill>
                  <a:srgbClr val="262626"/>
                </a:solidFill>
                <a:latin typeface="+mn-lt"/>
                <a:ea typeface="Open Sans"/>
                <a:cs typeface="ALS Sector Regular" panose="02000000000000000000" pitchFamily="2" charset="0"/>
                <a:sym typeface="Open Sans"/>
              </a:rPr>
              <a:t>графики рассеяния </a:t>
            </a:r>
            <a:r>
              <a:rPr lang="ru-RU" sz="2200" dirty="0" smtClean="0">
                <a:solidFill>
                  <a:srgbClr val="262626"/>
                </a:solidFill>
                <a:latin typeface="+mn-lt"/>
                <a:ea typeface="Open Sans"/>
                <a:cs typeface="ALS Sector Regular" panose="02000000000000000000" pitchFamily="2" charset="0"/>
                <a:sym typeface="Open Sans"/>
              </a:rPr>
              <a:t>точек</a:t>
            </a:r>
            <a:endParaRPr lang="ru-RU" sz="2200" dirty="0">
              <a:solidFill>
                <a:srgbClr val="262626"/>
              </a:solidFill>
              <a:latin typeface="+mn-lt"/>
              <a:ea typeface="Open Sans"/>
              <a:cs typeface="ALS Sector Regular" panose="02000000000000000000" pitchFamily="2" charset="0"/>
              <a:sym typeface="Open Sans"/>
            </a:endParaRPr>
          </a:p>
          <a:p>
            <a:pPr marL="342900" lvl="0" indent="-342900">
              <a:lnSpc>
                <a:spcPct val="90000"/>
              </a:lnSpc>
              <a:buSzPts val="2700"/>
              <a:buFont typeface="Arial" panose="020B0604020202020204" pitchFamily="34" charset="0"/>
              <a:buChar char="•"/>
            </a:pPr>
            <a:r>
              <a:rPr lang="ru-RU" sz="2200" dirty="0" smtClean="0">
                <a:solidFill>
                  <a:srgbClr val="262626"/>
                </a:solidFill>
                <a:latin typeface="+mn-lt"/>
                <a:ea typeface="Open Sans"/>
                <a:cs typeface="ALS Sector Regular" panose="02000000000000000000" pitchFamily="2" charset="0"/>
                <a:sym typeface="Open Sans"/>
              </a:rPr>
              <a:t>тепловые </a:t>
            </a:r>
            <a:r>
              <a:rPr lang="ru-RU" sz="2200" dirty="0">
                <a:solidFill>
                  <a:srgbClr val="262626"/>
                </a:solidFill>
                <a:latin typeface="+mn-lt"/>
                <a:ea typeface="Open Sans"/>
                <a:cs typeface="ALS Sector Regular" panose="02000000000000000000" pitchFamily="2" charset="0"/>
                <a:sym typeface="Open Sans"/>
              </a:rPr>
              <a:t>карты корреляционных матриц (</a:t>
            </a:r>
            <a:r>
              <a:rPr lang="ru-RU" sz="2200" dirty="0" err="1">
                <a:solidFill>
                  <a:srgbClr val="262626"/>
                </a:solidFill>
                <a:latin typeface="+mn-lt"/>
                <a:ea typeface="Open Sans"/>
                <a:cs typeface="ALS Sector Regular" panose="02000000000000000000" pitchFamily="2" charset="0"/>
                <a:sym typeface="Open Sans"/>
              </a:rPr>
              <a:t>Кендалла</a:t>
            </a:r>
            <a:r>
              <a:rPr lang="ru-RU" sz="2200" dirty="0">
                <a:solidFill>
                  <a:srgbClr val="262626"/>
                </a:solidFill>
                <a:latin typeface="+mn-lt"/>
                <a:ea typeface="Open Sans"/>
                <a:cs typeface="ALS Sector Regular" panose="02000000000000000000" pitchFamily="2" charset="0"/>
                <a:sym typeface="Open Sans"/>
              </a:rPr>
              <a:t> и Пирсона</a:t>
            </a:r>
            <a:r>
              <a:rPr lang="ru-RU" sz="2200" dirty="0" smtClean="0">
                <a:solidFill>
                  <a:srgbClr val="262626"/>
                </a:solidFill>
                <a:latin typeface="+mn-lt"/>
                <a:ea typeface="Open Sans"/>
                <a:cs typeface="ALS Sector Regular" panose="02000000000000000000" pitchFamily="2" charset="0"/>
                <a:sym typeface="Open Sans"/>
              </a:rPr>
              <a:t>)</a:t>
            </a:r>
            <a:endParaRPr lang="ru-RU" sz="2200" dirty="0">
              <a:solidFill>
                <a:srgbClr val="262626"/>
              </a:solidFill>
              <a:latin typeface="+mn-lt"/>
              <a:ea typeface="Open Sans"/>
              <a:cs typeface="ALS Sector Regular" panose="02000000000000000000" pitchFamily="2" charset="0"/>
              <a:sym typeface="Open Sans"/>
            </a:endParaRPr>
          </a:p>
          <a:p>
            <a:pPr lvl="0">
              <a:lnSpc>
                <a:spcPct val="90000"/>
              </a:lnSpc>
              <a:buSzPts val="2700"/>
            </a:pPr>
            <a:endParaRPr lang="ru-RU" sz="2200" dirty="0">
              <a:solidFill>
                <a:srgbClr val="262626"/>
              </a:solidFill>
              <a:latin typeface="+mn-lt"/>
              <a:ea typeface="Open Sans"/>
              <a:cs typeface="ALS Sector Regular" panose="02000000000000000000" pitchFamily="2" charset="0"/>
              <a:sym typeface="Open Sans"/>
            </a:endParaRPr>
          </a:p>
        </p:txBody>
      </p:sp>
      <p:sp>
        <p:nvSpPr>
          <p:cNvPr id="21" name="Текст 2">
            <a:extLst>
              <a:ext uri="{FF2B5EF4-FFF2-40B4-BE49-F238E27FC236}">
                <a16:creationId xmlns:a16="http://schemas.microsoft.com/office/drawing/2014/main" xmlns="" id="{5A8999A3-76FB-4548-86BA-DAD9E574E770}"/>
              </a:ext>
            </a:extLst>
          </p:cNvPr>
          <p:cNvSpPr txBox="1">
            <a:spLocks/>
          </p:cNvSpPr>
          <p:nvPr/>
        </p:nvSpPr>
        <p:spPr>
          <a:xfrm>
            <a:off x="224647" y="1333690"/>
            <a:ext cx="7119143" cy="600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None/>
              <a:defRPr sz="2700" b="0" i="0" u="none" strike="noStrike" cap="none" baseline="0">
                <a:solidFill>
                  <a:srgbClr val="F1BE29"/>
                </a:solidFill>
                <a:latin typeface="ALS Sector Regular" panose="02000000000000000000" pitchFamily="2" charset="0"/>
                <a:ea typeface="Open Sans"/>
                <a:cs typeface="ALS Sector Regular" panose="02000000000000000000" pitchFamily="2" charset="0"/>
                <a:sym typeface="Open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sz="20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sz="16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sz="14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sz="14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rPr lang="ru-RU" sz="2400" dirty="0"/>
              <a:t>Методы и инструменты</a:t>
            </a:r>
            <a:endParaRPr lang="ru-RU" sz="2600" dirty="0"/>
          </a:p>
        </p:txBody>
      </p: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xmlns="" id="{68AC1BDB-9797-4A12-B4FC-ED5D4C2B9CD1}"/>
              </a:ext>
            </a:extLst>
          </p:cNvPr>
          <p:cNvGrpSpPr/>
          <p:nvPr/>
        </p:nvGrpSpPr>
        <p:grpSpPr>
          <a:xfrm>
            <a:off x="3167879" y="469293"/>
            <a:ext cx="5783616" cy="666000"/>
            <a:chOff x="1476753" y="3499669"/>
            <a:chExt cx="4619247" cy="666000"/>
          </a:xfrm>
        </p:grpSpPr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xmlns="" id="{89C13AD3-6AFD-447D-B4AF-345F80DAE2DD}"/>
                </a:ext>
              </a:extLst>
            </p:cNvPr>
            <p:cNvSpPr/>
            <p:nvPr/>
          </p:nvSpPr>
          <p:spPr>
            <a:xfrm>
              <a:off x="1476753" y="3499669"/>
              <a:ext cx="4619247" cy="66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800" spc="180" dirty="0" smtClean="0">
                  <a:ln>
                    <a:solidFill>
                      <a:srgbClr val="065CAB"/>
                    </a:solidFill>
                  </a:ln>
                  <a:solidFill>
                    <a:srgbClr val="065CAB"/>
                  </a:solidFill>
                  <a:latin typeface="ALS Sector Bold" pitchFamily="2" charset="0"/>
                  <a:cs typeface="ALS Sector Bold" pitchFamily="2" charset="0"/>
                </a:rPr>
                <a:t>Разведочный анализ данных</a:t>
              </a:r>
              <a:endParaRPr lang="ru-RU" sz="2800" spc="180" dirty="0">
                <a:latin typeface="ALS Sector Bold" pitchFamily="2" charset="0"/>
                <a:cs typeface="ALS Sector Bold" pitchFamily="2" charset="0"/>
              </a:endParaRPr>
            </a:p>
          </p:txBody>
        </p:sp>
        <p:sp>
          <p:nvSpPr>
            <p:cNvPr id="22" name="Прямоугольник 58">
              <a:extLst>
                <a:ext uri="{FF2B5EF4-FFF2-40B4-BE49-F238E27FC236}">
                  <a16:creationId xmlns:a16="http://schemas.microsoft.com/office/drawing/2014/main" xmlns="" id="{6B9297EB-1310-4C5F-A390-8C10AE4D1F31}"/>
                </a:ext>
              </a:extLst>
            </p:cNvPr>
            <p:cNvSpPr/>
            <p:nvPr/>
          </p:nvSpPr>
          <p:spPr>
            <a:xfrm rot="10800000" flipH="1">
              <a:off x="1476754" y="3499669"/>
              <a:ext cx="7657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65C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LS Sector Regular" panose="02000000000000000000" pitchFamily="2" charset="0"/>
              </a:endParaRPr>
            </a:p>
          </p:txBody>
        </p:sp>
        <p:sp>
          <p:nvSpPr>
            <p:cNvPr id="23" name="Прямоугольник 58">
              <a:extLst>
                <a:ext uri="{FF2B5EF4-FFF2-40B4-BE49-F238E27FC236}">
                  <a16:creationId xmlns:a16="http://schemas.microsoft.com/office/drawing/2014/main" xmlns="" id="{2A56CCB7-652F-4E87-98F1-EB2990DFF5A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005951" y="3499669"/>
              <a:ext cx="9004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046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rgbClr val="065CAB"/>
                </a:solidFill>
                <a:latin typeface="ALS Sector Regular" panose="020000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68718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3">
            <a:extLst>
              <a:ext uri="{FF2B5EF4-FFF2-40B4-BE49-F238E27FC236}">
                <a16:creationId xmlns:a16="http://schemas.microsoft.com/office/drawing/2014/main" xmlns="" id="{542A9EF0-C372-49E0-A6DB-C1F10C19AAB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273628" y="6434051"/>
            <a:ext cx="570309" cy="275255"/>
          </a:xfrm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4</a:t>
            </a:fld>
            <a:endParaRPr lang="ru-RU" dirty="0"/>
          </a:p>
        </p:txBody>
      </p:sp>
      <p:sp>
        <p:nvSpPr>
          <p:cNvPr id="9" name="Google Shape;173;p7">
            <a:extLst>
              <a:ext uri="{FF2B5EF4-FFF2-40B4-BE49-F238E27FC236}">
                <a16:creationId xmlns:a16="http://schemas.microsoft.com/office/drawing/2014/main" xmlns="" id="{A67C8FEC-09C6-468D-9E95-239BC9E9DFA0}"/>
              </a:ext>
            </a:extLst>
          </p:cNvPr>
          <p:cNvSpPr txBox="1"/>
          <p:nvPr/>
        </p:nvSpPr>
        <p:spPr>
          <a:xfrm>
            <a:off x="461150" y="2048680"/>
            <a:ext cx="6372787" cy="144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725" tIns="38350" rIns="76725" bIns="38350" anchor="t" anchorCtr="0">
            <a:noAutofit/>
          </a:bodyPr>
          <a:lstStyle/>
          <a:p>
            <a:pPr lvl="0">
              <a:lnSpc>
                <a:spcPct val="90000"/>
              </a:lnSpc>
              <a:buSzPts val="2700"/>
            </a:pPr>
            <a:r>
              <a:rPr lang="ru-RU" sz="2000" b="1" dirty="0" smtClean="0"/>
              <a:t>Исходные </a:t>
            </a:r>
            <a:r>
              <a:rPr lang="ru-RU" sz="2000" b="1" dirty="0" err="1" smtClean="0"/>
              <a:t>датасеты</a:t>
            </a:r>
            <a:r>
              <a:rPr lang="ru-RU" sz="2000" b="1" dirty="0" smtClean="0"/>
              <a:t>:</a:t>
            </a:r>
          </a:p>
          <a:p>
            <a:pPr lvl="0">
              <a:lnSpc>
                <a:spcPct val="90000"/>
              </a:lnSpc>
              <a:buSzPts val="2700"/>
            </a:pPr>
            <a:endParaRPr lang="ru-RU" sz="2000" b="1" dirty="0" smtClean="0"/>
          </a:p>
          <a:p>
            <a:pPr marL="342900" lvl="0" indent="-342900">
              <a:lnSpc>
                <a:spcPct val="90000"/>
              </a:lnSpc>
              <a:buSzPts val="2700"/>
              <a:buFont typeface="Arial" panose="020B0604020202020204" pitchFamily="34" charset="0"/>
              <a:buChar char="•"/>
            </a:pPr>
            <a:r>
              <a:rPr lang="en-US" sz="2000" dirty="0" smtClean="0"/>
              <a:t>X</a:t>
            </a:r>
            <a:r>
              <a:rPr lang="ru-RU" sz="2000" dirty="0"/>
              <a:t>_</a:t>
            </a:r>
            <a:r>
              <a:rPr lang="en-US" sz="2000" dirty="0" err="1"/>
              <a:t>bp</a:t>
            </a:r>
            <a:r>
              <a:rPr lang="ru-RU" sz="2000" dirty="0"/>
              <a:t>.</a:t>
            </a:r>
            <a:r>
              <a:rPr lang="en-US" sz="2000" dirty="0" err="1"/>
              <a:t>xlsx</a:t>
            </a:r>
            <a:r>
              <a:rPr lang="ru-RU" sz="2000" dirty="0"/>
              <a:t> </a:t>
            </a:r>
            <a:r>
              <a:rPr lang="ru-RU" sz="2000" dirty="0" smtClean="0"/>
              <a:t> (1023 </a:t>
            </a:r>
            <a:r>
              <a:rPr lang="ru-RU" sz="2000" dirty="0"/>
              <a:t>строки, 11 </a:t>
            </a:r>
            <a:r>
              <a:rPr lang="ru-RU" sz="2000" dirty="0" smtClean="0"/>
              <a:t>столбцов) </a:t>
            </a:r>
          </a:p>
          <a:p>
            <a:pPr marL="342900" lvl="0" indent="-342900">
              <a:lnSpc>
                <a:spcPct val="90000"/>
              </a:lnSpc>
              <a:buSzPts val="2700"/>
              <a:buFont typeface="Arial" panose="020B0604020202020204" pitchFamily="34" charset="0"/>
              <a:buChar char="•"/>
            </a:pPr>
            <a:r>
              <a:rPr lang="en-US" sz="2000" dirty="0"/>
              <a:t>X</a:t>
            </a:r>
            <a:r>
              <a:rPr lang="ru-RU" sz="2000" dirty="0"/>
              <a:t>_</a:t>
            </a:r>
            <a:r>
              <a:rPr lang="en-US" sz="2000" dirty="0" err="1"/>
              <a:t>nup</a:t>
            </a:r>
            <a:r>
              <a:rPr lang="ru-RU" sz="2000" dirty="0"/>
              <a:t>.</a:t>
            </a:r>
            <a:r>
              <a:rPr lang="en-US" sz="2000" dirty="0" err="1"/>
              <a:t>xlsx</a:t>
            </a:r>
            <a:r>
              <a:rPr lang="ru-RU" sz="2000" dirty="0"/>
              <a:t> </a:t>
            </a:r>
            <a:r>
              <a:rPr lang="ru-RU" sz="2000" dirty="0" smtClean="0"/>
              <a:t>(1040 строк, 4 столбца)</a:t>
            </a:r>
            <a:endParaRPr lang="ru-RU" sz="2000" dirty="0">
              <a:solidFill>
                <a:srgbClr val="262626"/>
              </a:solidFill>
              <a:latin typeface="+mn-lt"/>
              <a:ea typeface="Open Sans"/>
              <a:cs typeface="ALS Sector Regular" panose="02000000000000000000" pitchFamily="2" charset="0"/>
              <a:sym typeface="Open Sans"/>
            </a:endParaRPr>
          </a:p>
        </p:txBody>
      </p:sp>
      <p:sp>
        <p:nvSpPr>
          <p:cNvPr id="21" name="Текст 2">
            <a:extLst>
              <a:ext uri="{FF2B5EF4-FFF2-40B4-BE49-F238E27FC236}">
                <a16:creationId xmlns:a16="http://schemas.microsoft.com/office/drawing/2014/main" xmlns="" id="{5A8999A3-76FB-4548-86BA-DAD9E574E770}"/>
              </a:ext>
            </a:extLst>
          </p:cNvPr>
          <p:cNvSpPr txBox="1">
            <a:spLocks/>
          </p:cNvSpPr>
          <p:nvPr/>
        </p:nvSpPr>
        <p:spPr>
          <a:xfrm>
            <a:off x="224647" y="1333690"/>
            <a:ext cx="7119143" cy="600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None/>
              <a:defRPr sz="2700" b="0" i="0" u="none" strike="noStrike" cap="none" baseline="0">
                <a:solidFill>
                  <a:srgbClr val="F1BE29"/>
                </a:solidFill>
                <a:latin typeface="ALS Sector Regular" panose="02000000000000000000" pitchFamily="2" charset="0"/>
                <a:ea typeface="Open Sans"/>
                <a:cs typeface="ALS Sector Regular" panose="02000000000000000000" pitchFamily="2" charset="0"/>
                <a:sym typeface="Open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sz="20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sz="16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sz="14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sz="14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rPr lang="ru-RU" sz="2400" dirty="0"/>
              <a:t>Общая характеристика </a:t>
            </a:r>
            <a:r>
              <a:rPr lang="ru-RU" sz="2400" dirty="0" smtClean="0"/>
              <a:t>исходных данных</a:t>
            </a:r>
            <a:endParaRPr lang="ru-RU" sz="2600" dirty="0"/>
          </a:p>
        </p:txBody>
      </p: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xmlns="" id="{68AC1BDB-9797-4A12-B4FC-ED5D4C2B9CD1}"/>
              </a:ext>
            </a:extLst>
          </p:cNvPr>
          <p:cNvGrpSpPr/>
          <p:nvPr/>
        </p:nvGrpSpPr>
        <p:grpSpPr>
          <a:xfrm>
            <a:off x="3167879" y="469293"/>
            <a:ext cx="5783616" cy="666000"/>
            <a:chOff x="1476753" y="3499669"/>
            <a:chExt cx="4619247" cy="666000"/>
          </a:xfrm>
        </p:grpSpPr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xmlns="" id="{89C13AD3-6AFD-447D-B4AF-345F80DAE2DD}"/>
                </a:ext>
              </a:extLst>
            </p:cNvPr>
            <p:cNvSpPr/>
            <p:nvPr/>
          </p:nvSpPr>
          <p:spPr>
            <a:xfrm>
              <a:off x="1476753" y="3499669"/>
              <a:ext cx="4619247" cy="66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800" spc="180" dirty="0" smtClean="0">
                  <a:ln>
                    <a:solidFill>
                      <a:srgbClr val="065CAB"/>
                    </a:solidFill>
                  </a:ln>
                  <a:solidFill>
                    <a:srgbClr val="065CAB"/>
                  </a:solidFill>
                  <a:latin typeface="ALS Sector Bold" pitchFamily="2" charset="0"/>
                  <a:cs typeface="ALS Sector Bold" pitchFamily="2" charset="0"/>
                </a:rPr>
                <a:t>Разведочный анализ данных</a:t>
              </a:r>
              <a:endParaRPr lang="ru-RU" sz="2800" spc="180" dirty="0">
                <a:latin typeface="ALS Sector Bold" pitchFamily="2" charset="0"/>
                <a:cs typeface="ALS Sector Bold" pitchFamily="2" charset="0"/>
              </a:endParaRPr>
            </a:p>
          </p:txBody>
        </p:sp>
        <p:sp>
          <p:nvSpPr>
            <p:cNvPr id="22" name="Прямоугольник 58">
              <a:extLst>
                <a:ext uri="{FF2B5EF4-FFF2-40B4-BE49-F238E27FC236}">
                  <a16:creationId xmlns:a16="http://schemas.microsoft.com/office/drawing/2014/main" xmlns="" id="{6B9297EB-1310-4C5F-A390-8C10AE4D1F31}"/>
                </a:ext>
              </a:extLst>
            </p:cNvPr>
            <p:cNvSpPr/>
            <p:nvPr/>
          </p:nvSpPr>
          <p:spPr>
            <a:xfrm rot="10800000" flipH="1">
              <a:off x="1476754" y="3499669"/>
              <a:ext cx="7657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65C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LS Sector Regular" panose="02000000000000000000" pitchFamily="2" charset="0"/>
              </a:endParaRPr>
            </a:p>
          </p:txBody>
        </p:sp>
        <p:sp>
          <p:nvSpPr>
            <p:cNvPr id="23" name="Прямоугольник 58">
              <a:extLst>
                <a:ext uri="{FF2B5EF4-FFF2-40B4-BE49-F238E27FC236}">
                  <a16:creationId xmlns:a16="http://schemas.microsoft.com/office/drawing/2014/main" xmlns="" id="{2A56CCB7-652F-4E87-98F1-EB2990DFF5A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005951" y="3499669"/>
              <a:ext cx="9004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046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rgbClr val="065CAB"/>
                </a:solidFill>
                <a:latin typeface="ALS Sector Regular" panose="02000000000000000000" pitchFamily="2" charset="0"/>
              </a:endParaRPr>
            </a:p>
          </p:txBody>
        </p:sp>
      </p:grpSp>
      <p:pic>
        <p:nvPicPr>
          <p:cNvPr id="10" name="Рисунок 9"/>
          <p:cNvPicPr/>
          <p:nvPr/>
        </p:nvPicPr>
        <p:blipFill>
          <a:blip r:embed="rId2"/>
          <a:stretch>
            <a:fillRect/>
          </a:stretch>
        </p:blipFill>
        <p:spPr>
          <a:xfrm>
            <a:off x="7183304" y="1333690"/>
            <a:ext cx="4727770" cy="3228485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7684168" y="1266826"/>
            <a:ext cx="786064" cy="34174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4" name="Рисунок 13"/>
          <p:cNvPicPr/>
          <p:nvPr/>
        </p:nvPicPr>
        <p:blipFill>
          <a:blip r:embed="rId3"/>
          <a:stretch>
            <a:fillRect/>
          </a:stretch>
        </p:blipFill>
        <p:spPr>
          <a:xfrm>
            <a:off x="7343790" y="4925261"/>
            <a:ext cx="4571214" cy="983219"/>
          </a:xfrm>
          <a:prstGeom prst="rect">
            <a:avLst/>
          </a:prstGeom>
        </p:spPr>
      </p:pic>
      <p:pic>
        <p:nvPicPr>
          <p:cNvPr id="15" name="Рисунок 14"/>
          <p:cNvPicPr/>
          <p:nvPr/>
        </p:nvPicPr>
        <p:blipFill>
          <a:blip r:embed="rId4"/>
          <a:stretch>
            <a:fillRect/>
          </a:stretch>
        </p:blipFill>
        <p:spPr>
          <a:xfrm>
            <a:off x="196595" y="3824304"/>
            <a:ext cx="3364790" cy="2223570"/>
          </a:xfrm>
          <a:prstGeom prst="rect">
            <a:avLst/>
          </a:prstGeom>
        </p:spPr>
      </p:pic>
      <p:pic>
        <p:nvPicPr>
          <p:cNvPr id="16" name="Рисунок 15"/>
          <p:cNvPicPr/>
          <p:nvPr/>
        </p:nvPicPr>
        <p:blipFill>
          <a:blip r:embed="rId5"/>
          <a:stretch>
            <a:fillRect/>
          </a:stretch>
        </p:blipFill>
        <p:spPr>
          <a:xfrm>
            <a:off x="3610430" y="3824304"/>
            <a:ext cx="3378899" cy="1935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192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3">
            <a:extLst>
              <a:ext uri="{FF2B5EF4-FFF2-40B4-BE49-F238E27FC236}">
                <a16:creationId xmlns:a16="http://schemas.microsoft.com/office/drawing/2014/main" xmlns="" id="{542A9EF0-C372-49E0-A6DB-C1F10C19AAB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273628" y="6434051"/>
            <a:ext cx="570309" cy="275255"/>
          </a:xfrm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5</a:t>
            </a:fld>
            <a:endParaRPr lang="ru-RU" dirty="0"/>
          </a:p>
        </p:txBody>
      </p:sp>
      <p:sp>
        <p:nvSpPr>
          <p:cNvPr id="21" name="Текст 2">
            <a:extLst>
              <a:ext uri="{FF2B5EF4-FFF2-40B4-BE49-F238E27FC236}">
                <a16:creationId xmlns:a16="http://schemas.microsoft.com/office/drawing/2014/main" xmlns="" id="{5A8999A3-76FB-4548-86BA-DAD9E574E770}"/>
              </a:ext>
            </a:extLst>
          </p:cNvPr>
          <p:cNvSpPr txBox="1">
            <a:spLocks/>
          </p:cNvSpPr>
          <p:nvPr/>
        </p:nvSpPr>
        <p:spPr>
          <a:xfrm>
            <a:off x="188305" y="1333690"/>
            <a:ext cx="11742764" cy="1088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None/>
              <a:defRPr sz="2700" b="0" i="0" u="none" strike="noStrike" cap="none" baseline="0">
                <a:solidFill>
                  <a:srgbClr val="F1BE29"/>
                </a:solidFill>
                <a:latin typeface="ALS Sector Regular" panose="02000000000000000000" pitchFamily="2" charset="0"/>
                <a:ea typeface="Open Sans"/>
                <a:cs typeface="ALS Sector Regular" panose="02000000000000000000" pitchFamily="2" charset="0"/>
                <a:sym typeface="Open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sz="20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sz="16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sz="14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sz="14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88900" indent="-7938"/>
            <a:r>
              <a:rPr lang="ru-RU" sz="2400" dirty="0"/>
              <a:t>Анализ качества и полноты данных</a:t>
            </a:r>
            <a:endParaRPr lang="ru-RU" sz="2600" dirty="0"/>
          </a:p>
        </p:txBody>
      </p: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xmlns="" id="{68AC1BDB-9797-4A12-B4FC-ED5D4C2B9CD1}"/>
              </a:ext>
            </a:extLst>
          </p:cNvPr>
          <p:cNvGrpSpPr/>
          <p:nvPr/>
        </p:nvGrpSpPr>
        <p:grpSpPr>
          <a:xfrm>
            <a:off x="3167879" y="469293"/>
            <a:ext cx="5783616" cy="666000"/>
            <a:chOff x="1476753" y="3499669"/>
            <a:chExt cx="4619247" cy="666000"/>
          </a:xfrm>
        </p:grpSpPr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xmlns="" id="{89C13AD3-6AFD-447D-B4AF-345F80DAE2DD}"/>
                </a:ext>
              </a:extLst>
            </p:cNvPr>
            <p:cNvSpPr/>
            <p:nvPr/>
          </p:nvSpPr>
          <p:spPr>
            <a:xfrm>
              <a:off x="1476753" y="3499669"/>
              <a:ext cx="4619247" cy="66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800" spc="180" dirty="0" smtClean="0">
                  <a:ln>
                    <a:solidFill>
                      <a:srgbClr val="065CAB"/>
                    </a:solidFill>
                  </a:ln>
                  <a:solidFill>
                    <a:srgbClr val="065CAB"/>
                  </a:solidFill>
                  <a:latin typeface="ALS Sector Bold" pitchFamily="2" charset="0"/>
                  <a:cs typeface="ALS Sector Bold" pitchFamily="2" charset="0"/>
                </a:rPr>
                <a:t>Разведочный анализ данных</a:t>
              </a:r>
              <a:endParaRPr lang="ru-RU" sz="2800" spc="180" dirty="0">
                <a:latin typeface="ALS Sector Bold" pitchFamily="2" charset="0"/>
                <a:cs typeface="ALS Sector Bold" pitchFamily="2" charset="0"/>
              </a:endParaRPr>
            </a:p>
          </p:txBody>
        </p:sp>
        <p:sp>
          <p:nvSpPr>
            <p:cNvPr id="22" name="Прямоугольник 58">
              <a:extLst>
                <a:ext uri="{FF2B5EF4-FFF2-40B4-BE49-F238E27FC236}">
                  <a16:creationId xmlns:a16="http://schemas.microsoft.com/office/drawing/2014/main" xmlns="" id="{6B9297EB-1310-4C5F-A390-8C10AE4D1F31}"/>
                </a:ext>
              </a:extLst>
            </p:cNvPr>
            <p:cNvSpPr/>
            <p:nvPr/>
          </p:nvSpPr>
          <p:spPr>
            <a:xfrm rot="10800000" flipH="1">
              <a:off x="1476754" y="3499669"/>
              <a:ext cx="7657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65C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LS Sector Regular" panose="02000000000000000000" pitchFamily="2" charset="0"/>
              </a:endParaRPr>
            </a:p>
          </p:txBody>
        </p:sp>
        <p:sp>
          <p:nvSpPr>
            <p:cNvPr id="23" name="Прямоугольник 58">
              <a:extLst>
                <a:ext uri="{FF2B5EF4-FFF2-40B4-BE49-F238E27FC236}">
                  <a16:creationId xmlns:a16="http://schemas.microsoft.com/office/drawing/2014/main" xmlns="" id="{2A56CCB7-652F-4E87-98F1-EB2990DFF5A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005951" y="3499669"/>
              <a:ext cx="9004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046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rgbClr val="065CAB"/>
                </a:solidFill>
                <a:latin typeface="ALS Sector Regular" panose="02000000000000000000" pitchFamily="2" charset="0"/>
              </a:endParaRPr>
            </a:p>
          </p:txBody>
        </p:sp>
      </p:grpSp>
      <p:pic>
        <p:nvPicPr>
          <p:cNvPr id="14" name="Рисунок 13"/>
          <p:cNvPicPr/>
          <p:nvPr/>
        </p:nvPicPr>
        <p:blipFill>
          <a:blip r:embed="rId2"/>
          <a:stretch>
            <a:fillRect/>
          </a:stretch>
        </p:blipFill>
        <p:spPr>
          <a:xfrm>
            <a:off x="6550057" y="2120677"/>
            <a:ext cx="3986745" cy="2749054"/>
          </a:xfrm>
          <a:prstGeom prst="rect">
            <a:avLst/>
          </a:prstGeom>
        </p:spPr>
      </p:pic>
      <p:pic>
        <p:nvPicPr>
          <p:cNvPr id="15" name="Рисунок 14"/>
          <p:cNvPicPr/>
          <p:nvPr/>
        </p:nvPicPr>
        <p:blipFill>
          <a:blip r:embed="rId3"/>
          <a:stretch>
            <a:fillRect/>
          </a:stretch>
        </p:blipFill>
        <p:spPr>
          <a:xfrm>
            <a:off x="4146173" y="5174080"/>
            <a:ext cx="4964452" cy="1207669"/>
          </a:xfrm>
          <a:prstGeom prst="rect">
            <a:avLst/>
          </a:prstGeom>
        </p:spPr>
      </p:pic>
      <p:pic>
        <p:nvPicPr>
          <p:cNvPr id="16" name="Рисунок 15"/>
          <p:cNvPicPr/>
          <p:nvPr/>
        </p:nvPicPr>
        <p:blipFill>
          <a:blip r:embed="rId4"/>
          <a:stretch>
            <a:fillRect/>
          </a:stretch>
        </p:blipFill>
        <p:spPr>
          <a:xfrm>
            <a:off x="1799975" y="2154250"/>
            <a:ext cx="4199724" cy="2749054"/>
          </a:xfrm>
          <a:prstGeom prst="rect">
            <a:avLst/>
          </a:prstGeom>
        </p:spPr>
      </p:pic>
      <p:sp>
        <p:nvSpPr>
          <p:cNvPr id="17" name="Прямоугольник 16"/>
          <p:cNvSpPr/>
          <p:nvPr/>
        </p:nvSpPr>
        <p:spPr>
          <a:xfrm>
            <a:off x="1799975" y="4210422"/>
            <a:ext cx="4199724" cy="24458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0287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3">
            <a:extLst>
              <a:ext uri="{FF2B5EF4-FFF2-40B4-BE49-F238E27FC236}">
                <a16:creationId xmlns:a16="http://schemas.microsoft.com/office/drawing/2014/main" xmlns="" id="{542A9EF0-C372-49E0-A6DB-C1F10C19AAB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273628" y="6434051"/>
            <a:ext cx="570309" cy="275255"/>
          </a:xfrm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6</a:t>
            </a:fld>
            <a:endParaRPr lang="ru-RU" dirty="0"/>
          </a:p>
        </p:txBody>
      </p:sp>
      <p:sp>
        <p:nvSpPr>
          <p:cNvPr id="21" name="Текст 2">
            <a:extLst>
              <a:ext uri="{FF2B5EF4-FFF2-40B4-BE49-F238E27FC236}">
                <a16:creationId xmlns:a16="http://schemas.microsoft.com/office/drawing/2014/main" xmlns="" id="{5A8999A3-76FB-4548-86BA-DAD9E574E770}"/>
              </a:ext>
            </a:extLst>
          </p:cNvPr>
          <p:cNvSpPr txBox="1">
            <a:spLocks/>
          </p:cNvSpPr>
          <p:nvPr/>
        </p:nvSpPr>
        <p:spPr>
          <a:xfrm>
            <a:off x="188305" y="1333690"/>
            <a:ext cx="11742764" cy="1088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None/>
              <a:defRPr sz="2700" b="0" i="0" u="none" strike="noStrike" cap="none" baseline="0">
                <a:solidFill>
                  <a:srgbClr val="F1BE29"/>
                </a:solidFill>
                <a:latin typeface="ALS Sector Regular" panose="02000000000000000000" pitchFamily="2" charset="0"/>
                <a:ea typeface="Open Sans"/>
                <a:cs typeface="ALS Sector Regular" panose="02000000000000000000" pitchFamily="2" charset="0"/>
                <a:sym typeface="Open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sz="20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sz="16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sz="14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sz="14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rPr lang="ru-RU" sz="2400" b="1" dirty="0"/>
              <a:t>Оценка статистических </a:t>
            </a:r>
            <a:r>
              <a:rPr lang="ru-RU" sz="2400" b="1" dirty="0" smtClean="0"/>
              <a:t>характеристик данных</a:t>
            </a:r>
            <a:endParaRPr lang="ru-RU" sz="2400" dirty="0"/>
          </a:p>
        </p:txBody>
      </p: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xmlns="" id="{68AC1BDB-9797-4A12-B4FC-ED5D4C2B9CD1}"/>
              </a:ext>
            </a:extLst>
          </p:cNvPr>
          <p:cNvGrpSpPr/>
          <p:nvPr/>
        </p:nvGrpSpPr>
        <p:grpSpPr>
          <a:xfrm>
            <a:off x="3167879" y="469293"/>
            <a:ext cx="5783616" cy="666000"/>
            <a:chOff x="1476753" y="3499669"/>
            <a:chExt cx="4619247" cy="666000"/>
          </a:xfrm>
        </p:grpSpPr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xmlns="" id="{89C13AD3-6AFD-447D-B4AF-345F80DAE2DD}"/>
                </a:ext>
              </a:extLst>
            </p:cNvPr>
            <p:cNvSpPr/>
            <p:nvPr/>
          </p:nvSpPr>
          <p:spPr>
            <a:xfrm>
              <a:off x="1476753" y="3499669"/>
              <a:ext cx="4619247" cy="66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800" spc="180" dirty="0" smtClean="0">
                  <a:ln>
                    <a:solidFill>
                      <a:srgbClr val="065CAB"/>
                    </a:solidFill>
                  </a:ln>
                  <a:solidFill>
                    <a:srgbClr val="065CAB"/>
                  </a:solidFill>
                  <a:latin typeface="ALS Sector Bold" pitchFamily="2" charset="0"/>
                  <a:cs typeface="ALS Sector Bold" pitchFamily="2" charset="0"/>
                </a:rPr>
                <a:t>Разведочный анализ данных</a:t>
              </a:r>
              <a:endParaRPr lang="ru-RU" sz="2800" spc="180" dirty="0">
                <a:latin typeface="ALS Sector Bold" pitchFamily="2" charset="0"/>
                <a:cs typeface="ALS Sector Bold" pitchFamily="2" charset="0"/>
              </a:endParaRPr>
            </a:p>
          </p:txBody>
        </p:sp>
        <p:sp>
          <p:nvSpPr>
            <p:cNvPr id="22" name="Прямоугольник 58">
              <a:extLst>
                <a:ext uri="{FF2B5EF4-FFF2-40B4-BE49-F238E27FC236}">
                  <a16:creationId xmlns:a16="http://schemas.microsoft.com/office/drawing/2014/main" xmlns="" id="{6B9297EB-1310-4C5F-A390-8C10AE4D1F31}"/>
                </a:ext>
              </a:extLst>
            </p:cNvPr>
            <p:cNvSpPr/>
            <p:nvPr/>
          </p:nvSpPr>
          <p:spPr>
            <a:xfrm rot="10800000" flipH="1">
              <a:off x="1476754" y="3499669"/>
              <a:ext cx="7657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65C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LS Sector Regular" panose="02000000000000000000" pitchFamily="2" charset="0"/>
              </a:endParaRPr>
            </a:p>
          </p:txBody>
        </p:sp>
        <p:sp>
          <p:nvSpPr>
            <p:cNvPr id="23" name="Прямоугольник 58">
              <a:extLst>
                <a:ext uri="{FF2B5EF4-FFF2-40B4-BE49-F238E27FC236}">
                  <a16:creationId xmlns:a16="http://schemas.microsoft.com/office/drawing/2014/main" xmlns="" id="{2A56CCB7-652F-4E87-98F1-EB2990DFF5A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005951" y="3499669"/>
              <a:ext cx="9004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046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rgbClr val="065CAB"/>
                </a:solidFill>
                <a:latin typeface="ALS Sector Regular" panose="02000000000000000000" pitchFamily="2" charset="0"/>
              </a:endParaRPr>
            </a:p>
          </p:txBody>
        </p:sp>
      </p:grpSp>
      <p:pic>
        <p:nvPicPr>
          <p:cNvPr id="11" name="Рисунок 10"/>
          <p:cNvPicPr/>
          <p:nvPr/>
        </p:nvPicPr>
        <p:blipFill>
          <a:blip r:embed="rId2"/>
          <a:stretch>
            <a:fillRect/>
          </a:stretch>
        </p:blipFill>
        <p:spPr>
          <a:xfrm>
            <a:off x="2064922" y="1878024"/>
            <a:ext cx="8213214" cy="4430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598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3">
            <a:extLst>
              <a:ext uri="{FF2B5EF4-FFF2-40B4-BE49-F238E27FC236}">
                <a16:creationId xmlns:a16="http://schemas.microsoft.com/office/drawing/2014/main" xmlns="" id="{542A9EF0-C372-49E0-A6DB-C1F10C19AAB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273628" y="6434051"/>
            <a:ext cx="570309" cy="275255"/>
          </a:xfrm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7</a:t>
            </a:fld>
            <a:endParaRPr lang="ru-RU" dirty="0"/>
          </a:p>
        </p:txBody>
      </p:sp>
      <p:sp>
        <p:nvSpPr>
          <p:cNvPr id="21" name="Текст 2">
            <a:extLst>
              <a:ext uri="{FF2B5EF4-FFF2-40B4-BE49-F238E27FC236}">
                <a16:creationId xmlns:a16="http://schemas.microsoft.com/office/drawing/2014/main" xmlns="" id="{5A8999A3-76FB-4548-86BA-DAD9E574E770}"/>
              </a:ext>
            </a:extLst>
          </p:cNvPr>
          <p:cNvSpPr txBox="1">
            <a:spLocks/>
          </p:cNvSpPr>
          <p:nvPr/>
        </p:nvSpPr>
        <p:spPr>
          <a:xfrm>
            <a:off x="188305" y="1333690"/>
            <a:ext cx="11742764" cy="1088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None/>
              <a:defRPr sz="2700" b="0" i="0" u="none" strike="noStrike" cap="none" baseline="0">
                <a:solidFill>
                  <a:srgbClr val="F1BE29"/>
                </a:solidFill>
                <a:latin typeface="ALS Sector Regular" panose="02000000000000000000" pitchFamily="2" charset="0"/>
                <a:ea typeface="Open Sans"/>
                <a:cs typeface="ALS Sector Regular" panose="02000000000000000000" pitchFamily="2" charset="0"/>
                <a:sym typeface="Open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sz="20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sz="16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sz="14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sz="14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rPr lang="ru-RU" sz="2400" b="1" dirty="0" smtClean="0"/>
              <a:t>Анализ </a:t>
            </a:r>
            <a:r>
              <a:rPr lang="ru-RU" sz="2400" b="1" dirty="0"/>
              <a:t>распределения и выбросов</a:t>
            </a:r>
            <a:endParaRPr lang="ru-RU" sz="2400" b="1" dirty="0"/>
          </a:p>
        </p:txBody>
      </p: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xmlns="" id="{68AC1BDB-9797-4A12-B4FC-ED5D4C2B9CD1}"/>
              </a:ext>
            </a:extLst>
          </p:cNvPr>
          <p:cNvGrpSpPr/>
          <p:nvPr/>
        </p:nvGrpSpPr>
        <p:grpSpPr>
          <a:xfrm>
            <a:off x="3167879" y="469293"/>
            <a:ext cx="5783616" cy="666000"/>
            <a:chOff x="1476753" y="3499669"/>
            <a:chExt cx="4619247" cy="666000"/>
          </a:xfrm>
        </p:grpSpPr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xmlns="" id="{89C13AD3-6AFD-447D-B4AF-345F80DAE2DD}"/>
                </a:ext>
              </a:extLst>
            </p:cNvPr>
            <p:cNvSpPr/>
            <p:nvPr/>
          </p:nvSpPr>
          <p:spPr>
            <a:xfrm>
              <a:off x="1476753" y="3499669"/>
              <a:ext cx="4619247" cy="66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800" spc="180" dirty="0" smtClean="0">
                  <a:ln>
                    <a:solidFill>
                      <a:srgbClr val="065CAB"/>
                    </a:solidFill>
                  </a:ln>
                  <a:solidFill>
                    <a:srgbClr val="065CAB"/>
                  </a:solidFill>
                  <a:latin typeface="ALS Sector Bold" pitchFamily="2" charset="0"/>
                  <a:cs typeface="ALS Sector Bold" pitchFamily="2" charset="0"/>
                </a:rPr>
                <a:t>Разведочный анализ данных</a:t>
              </a:r>
              <a:endParaRPr lang="ru-RU" sz="2800" spc="180" dirty="0">
                <a:latin typeface="ALS Sector Bold" pitchFamily="2" charset="0"/>
                <a:cs typeface="ALS Sector Bold" pitchFamily="2" charset="0"/>
              </a:endParaRPr>
            </a:p>
          </p:txBody>
        </p:sp>
        <p:sp>
          <p:nvSpPr>
            <p:cNvPr id="22" name="Прямоугольник 58">
              <a:extLst>
                <a:ext uri="{FF2B5EF4-FFF2-40B4-BE49-F238E27FC236}">
                  <a16:creationId xmlns:a16="http://schemas.microsoft.com/office/drawing/2014/main" xmlns="" id="{6B9297EB-1310-4C5F-A390-8C10AE4D1F31}"/>
                </a:ext>
              </a:extLst>
            </p:cNvPr>
            <p:cNvSpPr/>
            <p:nvPr/>
          </p:nvSpPr>
          <p:spPr>
            <a:xfrm rot="10800000" flipH="1">
              <a:off x="1476754" y="3499669"/>
              <a:ext cx="7657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65C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LS Sector Regular" panose="02000000000000000000" pitchFamily="2" charset="0"/>
              </a:endParaRPr>
            </a:p>
          </p:txBody>
        </p:sp>
        <p:sp>
          <p:nvSpPr>
            <p:cNvPr id="23" name="Прямоугольник 58">
              <a:extLst>
                <a:ext uri="{FF2B5EF4-FFF2-40B4-BE49-F238E27FC236}">
                  <a16:creationId xmlns:a16="http://schemas.microsoft.com/office/drawing/2014/main" xmlns="" id="{2A56CCB7-652F-4E87-98F1-EB2990DFF5A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005951" y="3499669"/>
              <a:ext cx="9004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046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rgbClr val="065CAB"/>
                </a:solidFill>
                <a:latin typeface="ALS Sector Regular" panose="02000000000000000000" pitchFamily="2" charset="0"/>
              </a:endParaRPr>
            </a:p>
          </p:txBody>
        </p:sp>
      </p:grpSp>
      <p:pic>
        <p:nvPicPr>
          <p:cNvPr id="9" name="Рисунок 8"/>
          <p:cNvPicPr/>
          <p:nvPr/>
        </p:nvPicPr>
        <p:blipFill>
          <a:blip r:embed="rId2"/>
          <a:stretch>
            <a:fillRect/>
          </a:stretch>
        </p:blipFill>
        <p:spPr>
          <a:xfrm>
            <a:off x="634908" y="1928699"/>
            <a:ext cx="4723155" cy="2273680"/>
          </a:xfrm>
          <a:prstGeom prst="rect">
            <a:avLst/>
          </a:prstGeom>
        </p:spPr>
      </p:pic>
      <p:pic>
        <p:nvPicPr>
          <p:cNvPr id="10" name="Рисунок 9"/>
          <p:cNvPicPr/>
          <p:nvPr/>
        </p:nvPicPr>
        <p:blipFill>
          <a:blip r:embed="rId3"/>
          <a:stretch>
            <a:fillRect/>
          </a:stretch>
        </p:blipFill>
        <p:spPr>
          <a:xfrm>
            <a:off x="634908" y="4265473"/>
            <a:ext cx="4723156" cy="2293675"/>
          </a:xfrm>
          <a:prstGeom prst="rect">
            <a:avLst/>
          </a:prstGeom>
        </p:spPr>
      </p:pic>
      <p:pic>
        <p:nvPicPr>
          <p:cNvPr id="12" name="Рисунок 11"/>
          <p:cNvPicPr/>
          <p:nvPr/>
        </p:nvPicPr>
        <p:blipFill>
          <a:blip r:embed="rId4"/>
          <a:stretch>
            <a:fillRect/>
          </a:stretch>
        </p:blipFill>
        <p:spPr>
          <a:xfrm>
            <a:off x="5423379" y="1897943"/>
            <a:ext cx="6045200" cy="4320639"/>
          </a:xfrm>
          <a:prstGeom prst="rect">
            <a:avLst/>
          </a:prstGeom>
        </p:spPr>
      </p:pic>
      <p:sp>
        <p:nvSpPr>
          <p:cNvPr id="2" name="Прямоугольник 1"/>
          <p:cNvSpPr/>
          <p:nvPr/>
        </p:nvSpPr>
        <p:spPr>
          <a:xfrm>
            <a:off x="2996485" y="1838560"/>
            <a:ext cx="1183727" cy="11675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/>
        </p:nvSpPr>
        <p:spPr>
          <a:xfrm>
            <a:off x="3002725" y="3065539"/>
            <a:ext cx="1183727" cy="11675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3148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3">
            <a:extLst>
              <a:ext uri="{FF2B5EF4-FFF2-40B4-BE49-F238E27FC236}">
                <a16:creationId xmlns:a16="http://schemas.microsoft.com/office/drawing/2014/main" xmlns="" id="{542A9EF0-C372-49E0-A6DB-C1F10C19AAB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273628" y="6434051"/>
            <a:ext cx="570309" cy="275255"/>
          </a:xfrm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8</a:t>
            </a:fld>
            <a:endParaRPr lang="ru-RU" dirty="0"/>
          </a:p>
        </p:txBody>
      </p:sp>
      <p:sp>
        <p:nvSpPr>
          <p:cNvPr id="21" name="Текст 2">
            <a:extLst>
              <a:ext uri="{FF2B5EF4-FFF2-40B4-BE49-F238E27FC236}">
                <a16:creationId xmlns:a16="http://schemas.microsoft.com/office/drawing/2014/main" xmlns="" id="{5A8999A3-76FB-4548-86BA-DAD9E574E770}"/>
              </a:ext>
            </a:extLst>
          </p:cNvPr>
          <p:cNvSpPr txBox="1">
            <a:spLocks/>
          </p:cNvSpPr>
          <p:nvPr/>
        </p:nvSpPr>
        <p:spPr>
          <a:xfrm>
            <a:off x="188305" y="1333690"/>
            <a:ext cx="11742764" cy="1088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None/>
              <a:defRPr sz="2700" b="0" i="0" u="none" strike="noStrike" cap="none" baseline="0">
                <a:solidFill>
                  <a:srgbClr val="F1BE29"/>
                </a:solidFill>
                <a:latin typeface="ALS Sector Regular" panose="02000000000000000000" pitchFamily="2" charset="0"/>
                <a:ea typeface="Open Sans"/>
                <a:cs typeface="ALS Sector Regular" panose="02000000000000000000" pitchFamily="2" charset="0"/>
                <a:sym typeface="Open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sz="20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sz="16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sz="14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sz="14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rPr lang="ru-RU" sz="2400" b="1" dirty="0"/>
              <a:t>Анализ зависимостей признаков</a:t>
            </a:r>
            <a:endParaRPr lang="ru-RU" sz="2400" b="1" dirty="0"/>
          </a:p>
        </p:txBody>
      </p: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xmlns="" id="{68AC1BDB-9797-4A12-B4FC-ED5D4C2B9CD1}"/>
              </a:ext>
            </a:extLst>
          </p:cNvPr>
          <p:cNvGrpSpPr/>
          <p:nvPr/>
        </p:nvGrpSpPr>
        <p:grpSpPr>
          <a:xfrm>
            <a:off x="3167879" y="469293"/>
            <a:ext cx="5783616" cy="666000"/>
            <a:chOff x="1476753" y="3499669"/>
            <a:chExt cx="4619247" cy="666000"/>
          </a:xfrm>
        </p:grpSpPr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xmlns="" id="{89C13AD3-6AFD-447D-B4AF-345F80DAE2DD}"/>
                </a:ext>
              </a:extLst>
            </p:cNvPr>
            <p:cNvSpPr/>
            <p:nvPr/>
          </p:nvSpPr>
          <p:spPr>
            <a:xfrm>
              <a:off x="1476753" y="3499669"/>
              <a:ext cx="4619247" cy="66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800" spc="180" dirty="0" smtClean="0">
                  <a:ln>
                    <a:solidFill>
                      <a:srgbClr val="065CAB"/>
                    </a:solidFill>
                  </a:ln>
                  <a:solidFill>
                    <a:srgbClr val="065CAB"/>
                  </a:solidFill>
                  <a:latin typeface="ALS Sector Bold" pitchFamily="2" charset="0"/>
                  <a:cs typeface="ALS Sector Bold" pitchFamily="2" charset="0"/>
                </a:rPr>
                <a:t>Разведочный анализ данных</a:t>
              </a:r>
              <a:endParaRPr lang="ru-RU" sz="2800" spc="180" dirty="0">
                <a:latin typeface="ALS Sector Bold" pitchFamily="2" charset="0"/>
                <a:cs typeface="ALS Sector Bold" pitchFamily="2" charset="0"/>
              </a:endParaRPr>
            </a:p>
          </p:txBody>
        </p:sp>
        <p:sp>
          <p:nvSpPr>
            <p:cNvPr id="22" name="Прямоугольник 58">
              <a:extLst>
                <a:ext uri="{FF2B5EF4-FFF2-40B4-BE49-F238E27FC236}">
                  <a16:creationId xmlns:a16="http://schemas.microsoft.com/office/drawing/2014/main" xmlns="" id="{6B9297EB-1310-4C5F-A390-8C10AE4D1F31}"/>
                </a:ext>
              </a:extLst>
            </p:cNvPr>
            <p:cNvSpPr/>
            <p:nvPr/>
          </p:nvSpPr>
          <p:spPr>
            <a:xfrm rot="10800000" flipH="1">
              <a:off x="1476754" y="3499669"/>
              <a:ext cx="7657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65C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LS Sector Regular" panose="02000000000000000000" pitchFamily="2" charset="0"/>
              </a:endParaRPr>
            </a:p>
          </p:txBody>
        </p:sp>
        <p:sp>
          <p:nvSpPr>
            <p:cNvPr id="23" name="Прямоугольник 58">
              <a:extLst>
                <a:ext uri="{FF2B5EF4-FFF2-40B4-BE49-F238E27FC236}">
                  <a16:creationId xmlns:a16="http://schemas.microsoft.com/office/drawing/2014/main" xmlns="" id="{2A56CCB7-652F-4E87-98F1-EB2990DFF5A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005951" y="3499669"/>
              <a:ext cx="9004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046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rgbClr val="065CAB"/>
                </a:solidFill>
                <a:latin typeface="ALS Sector Regular" panose="02000000000000000000" pitchFamily="2" charset="0"/>
              </a:endParaRPr>
            </a:p>
          </p:txBody>
        </p:sp>
      </p:grpSp>
      <p:pic>
        <p:nvPicPr>
          <p:cNvPr id="9" name="Рисунок 8" descr="D:\Data Science\ВКР\РАБОТА\Пояснительные\Рис\Без названия.pn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9447" y="1878024"/>
            <a:ext cx="4587005" cy="4587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Рисунок 9" descr="D:\Data Science\ВКР\РАБОТА\Пояснительные\Рис\Без названия (1).png"/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94"/>
          <a:stretch/>
        </p:blipFill>
        <p:spPr bwMode="auto">
          <a:xfrm>
            <a:off x="5675086" y="1794630"/>
            <a:ext cx="5555934" cy="486688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90597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3">
            <a:extLst>
              <a:ext uri="{FF2B5EF4-FFF2-40B4-BE49-F238E27FC236}">
                <a16:creationId xmlns:a16="http://schemas.microsoft.com/office/drawing/2014/main" xmlns="" id="{542A9EF0-C372-49E0-A6DB-C1F10C19AAB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273628" y="6434051"/>
            <a:ext cx="570309" cy="275255"/>
          </a:xfrm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9</a:t>
            </a:fld>
            <a:endParaRPr lang="ru-RU" dirty="0"/>
          </a:p>
        </p:txBody>
      </p:sp>
      <p:sp>
        <p:nvSpPr>
          <p:cNvPr id="21" name="Текст 2">
            <a:extLst>
              <a:ext uri="{FF2B5EF4-FFF2-40B4-BE49-F238E27FC236}">
                <a16:creationId xmlns:a16="http://schemas.microsoft.com/office/drawing/2014/main" xmlns="" id="{5A8999A3-76FB-4548-86BA-DAD9E574E770}"/>
              </a:ext>
            </a:extLst>
          </p:cNvPr>
          <p:cNvSpPr txBox="1">
            <a:spLocks/>
          </p:cNvSpPr>
          <p:nvPr/>
        </p:nvSpPr>
        <p:spPr>
          <a:xfrm>
            <a:off x="188305" y="1333690"/>
            <a:ext cx="11742764" cy="1088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None/>
              <a:defRPr sz="2700" b="0" i="0" u="none" strike="noStrike" cap="none" baseline="0">
                <a:solidFill>
                  <a:srgbClr val="F1BE29"/>
                </a:solidFill>
                <a:latin typeface="ALS Sector Regular" panose="02000000000000000000" pitchFamily="2" charset="0"/>
                <a:ea typeface="Open Sans"/>
                <a:cs typeface="ALS Sector Regular" panose="02000000000000000000" pitchFamily="2" charset="0"/>
                <a:sym typeface="Open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sz="20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sz="16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sz="14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sz="14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rPr lang="ru-RU" sz="2400" b="1" dirty="0" smtClean="0"/>
              <a:t>Очистка от выбросов</a:t>
            </a:r>
            <a:endParaRPr lang="ru-RU" sz="2400" b="1" dirty="0"/>
          </a:p>
        </p:txBody>
      </p: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xmlns="" id="{68AC1BDB-9797-4A12-B4FC-ED5D4C2B9CD1}"/>
              </a:ext>
            </a:extLst>
          </p:cNvPr>
          <p:cNvGrpSpPr/>
          <p:nvPr/>
        </p:nvGrpSpPr>
        <p:grpSpPr>
          <a:xfrm>
            <a:off x="3167879" y="469293"/>
            <a:ext cx="5783616" cy="666000"/>
            <a:chOff x="1476753" y="3499669"/>
            <a:chExt cx="4619247" cy="666000"/>
          </a:xfrm>
        </p:grpSpPr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xmlns="" id="{89C13AD3-6AFD-447D-B4AF-345F80DAE2DD}"/>
                </a:ext>
              </a:extLst>
            </p:cNvPr>
            <p:cNvSpPr/>
            <p:nvPr/>
          </p:nvSpPr>
          <p:spPr>
            <a:xfrm>
              <a:off x="1476753" y="3499669"/>
              <a:ext cx="4619247" cy="66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800" spc="180" dirty="0" smtClean="0">
                  <a:ln>
                    <a:solidFill>
                      <a:srgbClr val="065CAB"/>
                    </a:solidFill>
                  </a:ln>
                  <a:solidFill>
                    <a:srgbClr val="065CAB"/>
                  </a:solidFill>
                  <a:latin typeface="ALS Sector Bold" pitchFamily="2" charset="0"/>
                  <a:cs typeface="ALS Sector Bold" pitchFamily="2" charset="0"/>
                </a:rPr>
                <a:t>Предобработка данных</a:t>
              </a:r>
              <a:endParaRPr lang="ru-RU" sz="2800" spc="180" dirty="0">
                <a:latin typeface="ALS Sector Bold" pitchFamily="2" charset="0"/>
                <a:cs typeface="ALS Sector Bold" pitchFamily="2" charset="0"/>
              </a:endParaRPr>
            </a:p>
          </p:txBody>
        </p:sp>
        <p:sp>
          <p:nvSpPr>
            <p:cNvPr id="22" name="Прямоугольник 58">
              <a:extLst>
                <a:ext uri="{FF2B5EF4-FFF2-40B4-BE49-F238E27FC236}">
                  <a16:creationId xmlns:a16="http://schemas.microsoft.com/office/drawing/2014/main" xmlns="" id="{6B9297EB-1310-4C5F-A390-8C10AE4D1F31}"/>
                </a:ext>
              </a:extLst>
            </p:cNvPr>
            <p:cNvSpPr/>
            <p:nvPr/>
          </p:nvSpPr>
          <p:spPr>
            <a:xfrm rot="10800000" flipH="1">
              <a:off x="1476754" y="3499669"/>
              <a:ext cx="7657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65C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LS Sector Regular" panose="02000000000000000000" pitchFamily="2" charset="0"/>
              </a:endParaRPr>
            </a:p>
          </p:txBody>
        </p:sp>
        <p:sp>
          <p:nvSpPr>
            <p:cNvPr id="23" name="Прямоугольник 58">
              <a:extLst>
                <a:ext uri="{FF2B5EF4-FFF2-40B4-BE49-F238E27FC236}">
                  <a16:creationId xmlns:a16="http://schemas.microsoft.com/office/drawing/2014/main" xmlns="" id="{2A56CCB7-652F-4E87-98F1-EB2990DFF5A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005951" y="3499669"/>
              <a:ext cx="9004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046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rgbClr val="065CAB"/>
                </a:solidFill>
                <a:latin typeface="ALS Sector Regular" panose="02000000000000000000" pitchFamily="2" charset="0"/>
              </a:endParaRPr>
            </a:p>
          </p:txBody>
        </p:sp>
      </p:grpSp>
      <p:pic>
        <p:nvPicPr>
          <p:cNvPr id="12" name="Рисунок 11" descr="D:\Data Science\ВКР\РАБОТА\Пояснительные\Рис\Без названия (3)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51656"/>
            <a:ext cx="5021179" cy="360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Рисунок 12" descr="D:\Data Science\ВКР\РАБОТА\Пояснительные\Рис\Без названия (4).png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28"/>
          <a:stretch/>
        </p:blipFill>
        <p:spPr bwMode="auto">
          <a:xfrm>
            <a:off x="5021179" y="2151657"/>
            <a:ext cx="3416968" cy="3601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Рисунок 13" descr="D:\Data Science\ВКР\РАБОТА\Пояснительные\Рис\Без названия (5).png"/>
          <p:cNvPicPr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083"/>
          <a:stretch/>
        </p:blipFill>
        <p:spPr bwMode="auto">
          <a:xfrm>
            <a:off x="8438147" y="2151657"/>
            <a:ext cx="3492923" cy="360152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710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3">
            <a:extLst>
              <a:ext uri="{FF2B5EF4-FFF2-40B4-BE49-F238E27FC236}">
                <a16:creationId xmlns:a16="http://schemas.microsoft.com/office/drawing/2014/main" xmlns="" id="{542A9EF0-C372-49E0-A6DB-C1F10C19AAB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273628" y="6434051"/>
            <a:ext cx="570309" cy="275255"/>
          </a:xfrm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10</a:t>
            </a:fld>
            <a:endParaRPr lang="ru-RU" dirty="0"/>
          </a:p>
        </p:txBody>
      </p:sp>
      <p:sp>
        <p:nvSpPr>
          <p:cNvPr id="21" name="Текст 2">
            <a:extLst>
              <a:ext uri="{FF2B5EF4-FFF2-40B4-BE49-F238E27FC236}">
                <a16:creationId xmlns:a16="http://schemas.microsoft.com/office/drawing/2014/main" xmlns="" id="{5A8999A3-76FB-4548-86BA-DAD9E574E770}"/>
              </a:ext>
            </a:extLst>
          </p:cNvPr>
          <p:cNvSpPr txBox="1">
            <a:spLocks/>
          </p:cNvSpPr>
          <p:nvPr/>
        </p:nvSpPr>
        <p:spPr>
          <a:xfrm>
            <a:off x="188305" y="1333690"/>
            <a:ext cx="11742764" cy="1088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None/>
              <a:defRPr sz="2700" b="0" i="0" u="none" strike="noStrike" cap="none" baseline="0">
                <a:solidFill>
                  <a:srgbClr val="F1BE29"/>
                </a:solidFill>
                <a:latin typeface="ALS Sector Regular" panose="02000000000000000000" pitchFamily="2" charset="0"/>
                <a:ea typeface="Open Sans"/>
                <a:cs typeface="ALS Sector Regular" panose="02000000000000000000" pitchFamily="2" charset="0"/>
                <a:sym typeface="Open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sz="20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sz="16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sz="14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sz="14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rPr lang="ru-RU" sz="2400" b="1" dirty="0" smtClean="0"/>
              <a:t>Масштабирование</a:t>
            </a:r>
            <a:endParaRPr lang="ru-RU" sz="2400" b="1" dirty="0"/>
          </a:p>
        </p:txBody>
      </p: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xmlns="" id="{68AC1BDB-9797-4A12-B4FC-ED5D4C2B9CD1}"/>
              </a:ext>
            </a:extLst>
          </p:cNvPr>
          <p:cNvGrpSpPr/>
          <p:nvPr/>
        </p:nvGrpSpPr>
        <p:grpSpPr>
          <a:xfrm>
            <a:off x="3167879" y="469293"/>
            <a:ext cx="5783616" cy="666000"/>
            <a:chOff x="1476753" y="3499669"/>
            <a:chExt cx="4619247" cy="666000"/>
          </a:xfrm>
        </p:grpSpPr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xmlns="" id="{89C13AD3-6AFD-447D-B4AF-345F80DAE2DD}"/>
                </a:ext>
              </a:extLst>
            </p:cNvPr>
            <p:cNvSpPr/>
            <p:nvPr/>
          </p:nvSpPr>
          <p:spPr>
            <a:xfrm>
              <a:off x="1476753" y="3499669"/>
              <a:ext cx="4619247" cy="66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800" spc="180" dirty="0" smtClean="0">
                  <a:ln>
                    <a:solidFill>
                      <a:srgbClr val="065CAB"/>
                    </a:solidFill>
                  </a:ln>
                  <a:solidFill>
                    <a:srgbClr val="065CAB"/>
                  </a:solidFill>
                  <a:latin typeface="ALS Sector Bold" pitchFamily="2" charset="0"/>
                  <a:cs typeface="ALS Sector Bold" pitchFamily="2" charset="0"/>
                </a:rPr>
                <a:t>Предобработка данных</a:t>
              </a:r>
              <a:endParaRPr lang="ru-RU" sz="2800" spc="180" dirty="0">
                <a:latin typeface="ALS Sector Bold" pitchFamily="2" charset="0"/>
                <a:cs typeface="ALS Sector Bold" pitchFamily="2" charset="0"/>
              </a:endParaRPr>
            </a:p>
          </p:txBody>
        </p:sp>
        <p:sp>
          <p:nvSpPr>
            <p:cNvPr id="22" name="Прямоугольник 58">
              <a:extLst>
                <a:ext uri="{FF2B5EF4-FFF2-40B4-BE49-F238E27FC236}">
                  <a16:creationId xmlns:a16="http://schemas.microsoft.com/office/drawing/2014/main" xmlns="" id="{6B9297EB-1310-4C5F-A390-8C10AE4D1F31}"/>
                </a:ext>
              </a:extLst>
            </p:cNvPr>
            <p:cNvSpPr/>
            <p:nvPr/>
          </p:nvSpPr>
          <p:spPr>
            <a:xfrm rot="10800000" flipH="1">
              <a:off x="1476754" y="3499669"/>
              <a:ext cx="7657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65C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LS Sector Regular" panose="02000000000000000000" pitchFamily="2" charset="0"/>
              </a:endParaRPr>
            </a:p>
          </p:txBody>
        </p:sp>
        <p:sp>
          <p:nvSpPr>
            <p:cNvPr id="23" name="Прямоугольник 58">
              <a:extLst>
                <a:ext uri="{FF2B5EF4-FFF2-40B4-BE49-F238E27FC236}">
                  <a16:creationId xmlns:a16="http://schemas.microsoft.com/office/drawing/2014/main" xmlns="" id="{2A56CCB7-652F-4E87-98F1-EB2990DFF5A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005951" y="3499669"/>
              <a:ext cx="9004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046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rgbClr val="065CAB"/>
                </a:solidFill>
                <a:latin typeface="ALS Sector Regular" panose="02000000000000000000" pitchFamily="2" charset="0"/>
              </a:endParaRPr>
            </a:p>
          </p:txBody>
        </p:sp>
      </p:grpSp>
      <p:pic>
        <p:nvPicPr>
          <p:cNvPr id="11" name="Рисунок 10" descr="D:\Data Science\ВКР\РАБОТА\Пояснительные\Рис\Без названия (7).pn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055" y="1878022"/>
            <a:ext cx="5938160" cy="42571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Рисунок 14" descr="D:\Data Science\ВКР\РАБОТА\Пояснительные\Рис\Без названия (8).png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29"/>
          <a:stretch/>
        </p:blipFill>
        <p:spPr bwMode="auto">
          <a:xfrm>
            <a:off x="6554214" y="1878023"/>
            <a:ext cx="4072214" cy="425711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28254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3">
            <a:extLst>
              <a:ext uri="{FF2B5EF4-FFF2-40B4-BE49-F238E27FC236}">
                <a16:creationId xmlns:a16="http://schemas.microsoft.com/office/drawing/2014/main" xmlns="" id="{542A9EF0-C372-49E0-A6DB-C1F10C19AAB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273628" y="6434051"/>
            <a:ext cx="570309" cy="275255"/>
          </a:xfrm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11</a:t>
            </a:fld>
            <a:endParaRPr lang="ru-RU" dirty="0"/>
          </a:p>
        </p:txBody>
      </p:sp>
      <p:sp>
        <p:nvSpPr>
          <p:cNvPr id="21" name="Текст 2">
            <a:extLst>
              <a:ext uri="{FF2B5EF4-FFF2-40B4-BE49-F238E27FC236}">
                <a16:creationId xmlns:a16="http://schemas.microsoft.com/office/drawing/2014/main" xmlns="" id="{5A8999A3-76FB-4548-86BA-DAD9E574E770}"/>
              </a:ext>
            </a:extLst>
          </p:cNvPr>
          <p:cNvSpPr txBox="1">
            <a:spLocks/>
          </p:cNvSpPr>
          <p:nvPr/>
        </p:nvSpPr>
        <p:spPr>
          <a:xfrm>
            <a:off x="188305" y="1333690"/>
            <a:ext cx="11742764" cy="1088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None/>
              <a:defRPr sz="2700" b="0" i="0" u="none" strike="noStrike" cap="none" baseline="0">
                <a:solidFill>
                  <a:srgbClr val="F1BE29"/>
                </a:solidFill>
                <a:latin typeface="ALS Sector Regular" panose="02000000000000000000" pitchFamily="2" charset="0"/>
                <a:ea typeface="Open Sans"/>
                <a:cs typeface="ALS Sector Regular" panose="02000000000000000000" pitchFamily="2" charset="0"/>
                <a:sym typeface="Open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sz="20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sz="16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sz="14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sz="14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rPr lang="ru-RU" sz="2400" b="1" dirty="0" smtClean="0"/>
              <a:t>Используемые модели, этапы </a:t>
            </a:r>
            <a:r>
              <a:rPr lang="ru-RU" sz="2400" b="1" dirty="0"/>
              <a:t>разработки и </a:t>
            </a:r>
            <a:r>
              <a:rPr lang="ru-RU" sz="2400" b="1" dirty="0" err="1" smtClean="0"/>
              <a:t>валидации</a:t>
            </a:r>
            <a:r>
              <a:rPr lang="ru-RU" sz="2400" b="1" dirty="0" smtClean="0"/>
              <a:t>  </a:t>
            </a:r>
            <a:endParaRPr lang="ru-RU" sz="2400" b="1" dirty="0"/>
          </a:p>
        </p:txBody>
      </p: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xmlns="" id="{68AC1BDB-9797-4A12-B4FC-ED5D4C2B9CD1}"/>
              </a:ext>
            </a:extLst>
          </p:cNvPr>
          <p:cNvGrpSpPr/>
          <p:nvPr/>
        </p:nvGrpSpPr>
        <p:grpSpPr>
          <a:xfrm>
            <a:off x="3167877" y="469293"/>
            <a:ext cx="8763191" cy="666000"/>
            <a:chOff x="1476753" y="3499669"/>
            <a:chExt cx="4619247" cy="666000"/>
          </a:xfrm>
        </p:grpSpPr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xmlns="" id="{89C13AD3-6AFD-447D-B4AF-345F80DAE2DD}"/>
                </a:ext>
              </a:extLst>
            </p:cNvPr>
            <p:cNvSpPr/>
            <p:nvPr/>
          </p:nvSpPr>
          <p:spPr>
            <a:xfrm>
              <a:off x="1476753" y="3499669"/>
              <a:ext cx="4619247" cy="66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800" spc="180" dirty="0" smtClean="0">
                  <a:ln>
                    <a:solidFill>
                      <a:srgbClr val="065CAB"/>
                    </a:solidFill>
                  </a:ln>
                  <a:solidFill>
                    <a:srgbClr val="065CAB"/>
                  </a:solidFill>
                  <a:latin typeface="ALS Sector Bold" pitchFamily="2" charset="0"/>
                  <a:cs typeface="ALS Sector Bold" pitchFamily="2" charset="0"/>
                </a:rPr>
                <a:t>Разработка, обучение и тестирование моделей</a:t>
              </a:r>
              <a:endParaRPr lang="ru-RU" sz="2800" spc="180" dirty="0">
                <a:latin typeface="ALS Sector Bold" pitchFamily="2" charset="0"/>
                <a:cs typeface="ALS Sector Bold" pitchFamily="2" charset="0"/>
              </a:endParaRPr>
            </a:p>
          </p:txBody>
        </p:sp>
        <p:sp>
          <p:nvSpPr>
            <p:cNvPr id="22" name="Прямоугольник 58">
              <a:extLst>
                <a:ext uri="{FF2B5EF4-FFF2-40B4-BE49-F238E27FC236}">
                  <a16:creationId xmlns:a16="http://schemas.microsoft.com/office/drawing/2014/main" xmlns="" id="{6B9297EB-1310-4C5F-A390-8C10AE4D1F31}"/>
                </a:ext>
              </a:extLst>
            </p:cNvPr>
            <p:cNvSpPr/>
            <p:nvPr/>
          </p:nvSpPr>
          <p:spPr>
            <a:xfrm rot="10800000" flipH="1">
              <a:off x="1476754" y="3499669"/>
              <a:ext cx="7657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65C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LS Sector Regular" panose="02000000000000000000" pitchFamily="2" charset="0"/>
              </a:endParaRPr>
            </a:p>
          </p:txBody>
        </p:sp>
        <p:sp>
          <p:nvSpPr>
            <p:cNvPr id="23" name="Прямоугольник 58">
              <a:extLst>
                <a:ext uri="{FF2B5EF4-FFF2-40B4-BE49-F238E27FC236}">
                  <a16:creationId xmlns:a16="http://schemas.microsoft.com/office/drawing/2014/main" xmlns="" id="{2A56CCB7-652F-4E87-98F1-EB2990DFF5A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005951" y="3499669"/>
              <a:ext cx="9004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046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rgbClr val="065CAB"/>
                </a:solidFill>
                <a:latin typeface="ALS Sector Regular" panose="02000000000000000000" pitchFamily="2" charset="0"/>
              </a:endParaRPr>
            </a:p>
          </p:txBody>
        </p:sp>
      </p:grpSp>
      <p:sp>
        <p:nvSpPr>
          <p:cNvPr id="12" name="Google Shape;173;p7">
            <a:extLst>
              <a:ext uri="{FF2B5EF4-FFF2-40B4-BE49-F238E27FC236}">
                <a16:creationId xmlns:a16="http://schemas.microsoft.com/office/drawing/2014/main" xmlns="" id="{A67C8FEC-09C6-468D-9E95-239BC9E9DFA0}"/>
              </a:ext>
            </a:extLst>
          </p:cNvPr>
          <p:cNvSpPr txBox="1"/>
          <p:nvPr/>
        </p:nvSpPr>
        <p:spPr>
          <a:xfrm>
            <a:off x="557242" y="1898855"/>
            <a:ext cx="9661418" cy="1850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725" tIns="38350" rIns="76725" bIns="38350" anchor="t" anchorCtr="0">
            <a:noAutofit/>
          </a:bodyPr>
          <a:lstStyle/>
          <a:p>
            <a:pPr marL="342900" lvl="0" indent="-342900">
              <a:lnSpc>
                <a:spcPct val="90000"/>
              </a:lnSpc>
              <a:buSzPts val="2700"/>
              <a:buFont typeface="Arial" panose="020B0604020202020204" pitchFamily="34" charset="0"/>
              <a:buChar char="•"/>
            </a:pPr>
            <a:endParaRPr lang="ru-RU" sz="2000" b="1" dirty="0" smtClean="0"/>
          </a:p>
          <a:p>
            <a:pPr lvl="0">
              <a:lnSpc>
                <a:spcPct val="90000"/>
              </a:lnSpc>
              <a:buSzPts val="2700"/>
            </a:pPr>
            <a:r>
              <a:rPr lang="ru-RU" sz="2000" b="1" dirty="0"/>
              <a:t>Алгоритмы машинного </a:t>
            </a:r>
            <a:r>
              <a:rPr lang="ru-RU" sz="2000" b="1" dirty="0" smtClean="0"/>
              <a:t>обучения:</a:t>
            </a:r>
          </a:p>
          <a:p>
            <a:pPr marL="342900" lvl="0" indent="-342900">
              <a:lnSpc>
                <a:spcPct val="90000"/>
              </a:lnSpc>
              <a:buSzPts val="2700"/>
              <a:buFont typeface="Arial" panose="020B0604020202020204" pitchFamily="34" charset="0"/>
              <a:buChar char="•"/>
            </a:pPr>
            <a:r>
              <a:rPr lang="ru-RU" sz="2000" dirty="0" smtClean="0"/>
              <a:t>Линейная </a:t>
            </a:r>
            <a:r>
              <a:rPr lang="ru-RU" sz="2000" dirty="0"/>
              <a:t>регрессия</a:t>
            </a:r>
            <a:r>
              <a:rPr lang="ru-RU" sz="2000" dirty="0"/>
              <a:t> (</a:t>
            </a:r>
            <a:r>
              <a:rPr lang="en-US" sz="2000" dirty="0"/>
              <a:t>Linear Regression</a:t>
            </a:r>
            <a:r>
              <a:rPr lang="en-US" sz="2000" dirty="0" smtClean="0"/>
              <a:t>)</a:t>
            </a:r>
            <a:endParaRPr lang="ru-RU" sz="2000" dirty="0" smtClean="0"/>
          </a:p>
          <a:p>
            <a:pPr marL="342900" lvl="0" indent="-342900">
              <a:lnSpc>
                <a:spcPct val="90000"/>
              </a:lnSpc>
              <a:buSzPts val="2700"/>
              <a:buFont typeface="Arial" panose="020B0604020202020204" pitchFamily="34" charset="0"/>
              <a:buChar char="•"/>
            </a:pPr>
            <a:r>
              <a:rPr lang="ru-RU" sz="2000" dirty="0"/>
              <a:t>Случайный лес</a:t>
            </a:r>
            <a:r>
              <a:rPr lang="ru-RU" sz="2000" dirty="0"/>
              <a:t> (</a:t>
            </a:r>
            <a:r>
              <a:rPr lang="en-US" sz="2000" dirty="0"/>
              <a:t>Random Forest</a:t>
            </a:r>
            <a:r>
              <a:rPr lang="en-US" sz="2000" dirty="0" smtClean="0"/>
              <a:t>)</a:t>
            </a:r>
            <a:endParaRPr lang="ru-RU" sz="2000" dirty="0" smtClean="0"/>
          </a:p>
          <a:p>
            <a:pPr marL="342900" lvl="0" indent="-342900">
              <a:lnSpc>
                <a:spcPct val="90000"/>
              </a:lnSpc>
              <a:buSzPts val="2700"/>
              <a:buFont typeface="Arial" panose="020B0604020202020204" pitchFamily="34" charset="0"/>
              <a:buChar char="•"/>
            </a:pPr>
            <a:r>
              <a:rPr lang="ru-RU" sz="2000" dirty="0"/>
              <a:t>Градиентный </a:t>
            </a:r>
            <a:r>
              <a:rPr lang="ru-RU" sz="2000" dirty="0" err="1"/>
              <a:t>бустинг</a:t>
            </a:r>
            <a:r>
              <a:rPr lang="ru-RU" sz="2000" dirty="0"/>
              <a:t> (</a:t>
            </a:r>
            <a:r>
              <a:rPr lang="en-US" sz="2000" dirty="0"/>
              <a:t>Gradient Boosting</a:t>
            </a:r>
            <a:r>
              <a:rPr lang="en-US" sz="2000" dirty="0" smtClean="0"/>
              <a:t>)</a:t>
            </a:r>
            <a:endParaRPr lang="ru-RU" sz="2000" dirty="0" smtClean="0"/>
          </a:p>
          <a:p>
            <a:pPr marL="342900" lvl="0" indent="-342900">
              <a:lnSpc>
                <a:spcPct val="90000"/>
              </a:lnSpc>
              <a:buSzPts val="2700"/>
              <a:buFont typeface="Arial" panose="020B0604020202020204" pitchFamily="34" charset="0"/>
              <a:buChar char="•"/>
            </a:pPr>
            <a:r>
              <a:rPr lang="ru-RU" sz="2000" dirty="0"/>
              <a:t>Метод k-ближайших соседей</a:t>
            </a:r>
            <a:r>
              <a:rPr lang="ru-RU" sz="2000" dirty="0"/>
              <a:t> </a:t>
            </a:r>
            <a:r>
              <a:rPr lang="ru-RU" sz="2000" dirty="0" smtClean="0"/>
              <a:t>(KNN</a:t>
            </a:r>
            <a:r>
              <a:rPr lang="ru-RU" sz="2000" dirty="0"/>
              <a:t>)</a:t>
            </a:r>
            <a:endParaRPr lang="ru-RU" sz="2000" dirty="0">
              <a:solidFill>
                <a:srgbClr val="262626"/>
              </a:solidFill>
              <a:latin typeface="+mn-lt"/>
              <a:ea typeface="Open Sans"/>
              <a:cs typeface="ALS Sector Regular" panose="02000000000000000000" pitchFamily="2" charset="0"/>
              <a:sym typeface="Open Sans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557242" y="3749665"/>
            <a:ext cx="8802885" cy="3323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725" tIns="38350" rIns="76725" bIns="38350" anchor="t" anchorCtr="0">
            <a:noAutofit/>
          </a:bodyPr>
          <a:lstStyle/>
          <a:p>
            <a:pPr>
              <a:lnSpc>
                <a:spcPct val="90000"/>
              </a:lnSpc>
              <a:buSzPts val="2700"/>
            </a:pPr>
            <a:r>
              <a:rPr lang="ru-RU" sz="2000" b="1" dirty="0"/>
              <a:t>Этапы разработки и </a:t>
            </a:r>
            <a:r>
              <a:rPr lang="ru-RU" sz="2000" b="1" dirty="0" err="1" smtClean="0"/>
              <a:t>валидации</a:t>
            </a:r>
            <a:r>
              <a:rPr lang="ru-RU" sz="2000" b="1" dirty="0" smtClean="0"/>
              <a:t>:</a:t>
            </a:r>
            <a:endParaRPr lang="ru-RU" altLang="ru-RU" sz="2000" b="1" dirty="0" smtClean="0"/>
          </a:p>
          <a:p>
            <a:pPr marL="342900" indent="-342900">
              <a:lnSpc>
                <a:spcPct val="90000"/>
              </a:lnSpc>
              <a:buSzPts val="2700"/>
              <a:buFont typeface="Arial" panose="020B0604020202020204" pitchFamily="34" charset="0"/>
              <a:buChar char="•"/>
            </a:pPr>
            <a:r>
              <a:rPr lang="ru-RU" altLang="ru-RU" sz="2000" dirty="0" smtClean="0"/>
              <a:t>Формирование </a:t>
            </a:r>
            <a:r>
              <a:rPr lang="ru-RU" altLang="ru-RU" sz="2000" dirty="0"/>
              <a:t>матриц признаков и целевого вектора </a:t>
            </a:r>
            <a:endParaRPr lang="ru-RU" altLang="ru-RU" sz="2000" dirty="0" smtClean="0"/>
          </a:p>
          <a:p>
            <a:pPr marL="342900" indent="-342900">
              <a:lnSpc>
                <a:spcPct val="90000"/>
              </a:lnSpc>
              <a:buSzPts val="2700"/>
              <a:buFont typeface="Arial" panose="020B0604020202020204" pitchFamily="34" charset="0"/>
              <a:buChar char="•"/>
            </a:pPr>
            <a:r>
              <a:rPr lang="ru-RU" altLang="ru-RU" sz="2000" dirty="0" smtClean="0"/>
              <a:t>Разделение </a:t>
            </a:r>
            <a:r>
              <a:rPr lang="ru-RU" altLang="ru-RU" sz="2000" dirty="0"/>
              <a:t>данных на обучающую и тестовую выборки </a:t>
            </a:r>
            <a:endParaRPr lang="ru-RU" altLang="ru-RU" sz="2000" dirty="0" smtClean="0"/>
          </a:p>
          <a:p>
            <a:pPr marL="342900" indent="-342900">
              <a:lnSpc>
                <a:spcPct val="90000"/>
              </a:lnSpc>
              <a:buSzPts val="2700"/>
              <a:buFont typeface="Arial" panose="020B0604020202020204" pitchFamily="34" charset="0"/>
              <a:buChar char="•"/>
            </a:pPr>
            <a:r>
              <a:rPr lang="ru-RU" altLang="ru-RU" sz="2000" dirty="0" smtClean="0"/>
              <a:t>Масштабирование </a:t>
            </a:r>
            <a:r>
              <a:rPr lang="ru-RU" altLang="ru-RU" sz="2000" dirty="0"/>
              <a:t>признаков (с предотвращением утечки </a:t>
            </a:r>
            <a:r>
              <a:rPr lang="ru-RU" altLang="ru-RU" sz="2000" dirty="0" smtClean="0"/>
              <a:t>данных)</a:t>
            </a:r>
            <a:endParaRPr lang="ru-RU" altLang="ru-RU" sz="2000" dirty="0"/>
          </a:p>
          <a:p>
            <a:pPr marL="342900" indent="-342900">
              <a:lnSpc>
                <a:spcPct val="90000"/>
              </a:lnSpc>
              <a:buSzPts val="2700"/>
              <a:buFont typeface="Arial" panose="020B0604020202020204" pitchFamily="34" charset="0"/>
              <a:buChar char="•"/>
            </a:pPr>
            <a:r>
              <a:rPr lang="ru-RU" altLang="ru-RU" sz="2000" dirty="0"/>
              <a:t>Обучение базовых моделей </a:t>
            </a:r>
          </a:p>
          <a:p>
            <a:pPr marL="342900" indent="-342900">
              <a:lnSpc>
                <a:spcPct val="90000"/>
              </a:lnSpc>
              <a:buSzPts val="2700"/>
              <a:buFont typeface="Arial" panose="020B0604020202020204" pitchFamily="34" charset="0"/>
              <a:buChar char="•"/>
            </a:pPr>
            <a:r>
              <a:rPr lang="ru-RU" altLang="ru-RU" sz="2000" dirty="0" smtClean="0"/>
              <a:t>Оценка </a:t>
            </a:r>
            <a:r>
              <a:rPr lang="ru-RU" altLang="ru-RU" sz="2000" dirty="0"/>
              <a:t>качества моделей с параметрами по умолчанию </a:t>
            </a:r>
          </a:p>
          <a:p>
            <a:pPr marL="342900" indent="-342900">
              <a:lnSpc>
                <a:spcPct val="90000"/>
              </a:lnSpc>
              <a:buSzPts val="2700"/>
              <a:buFont typeface="Arial" panose="020B0604020202020204" pitchFamily="34" charset="0"/>
              <a:buChar char="•"/>
            </a:pPr>
            <a:r>
              <a:rPr lang="ru-RU" altLang="ru-RU" sz="2000" dirty="0"/>
              <a:t>Подбор и оптимизация </a:t>
            </a:r>
            <a:r>
              <a:rPr lang="ru-RU" altLang="ru-RU" sz="2000" dirty="0" err="1"/>
              <a:t>гиперпараметров</a:t>
            </a:r>
            <a:r>
              <a:rPr lang="ru-RU" altLang="ru-RU" sz="2000" dirty="0"/>
              <a:t> </a:t>
            </a:r>
          </a:p>
          <a:p>
            <a:pPr marL="342900" indent="-342900">
              <a:lnSpc>
                <a:spcPct val="90000"/>
              </a:lnSpc>
              <a:buSzPts val="2700"/>
              <a:buFont typeface="Arial" panose="020B0604020202020204" pitchFamily="34" charset="0"/>
              <a:buChar char="•"/>
            </a:pPr>
            <a:r>
              <a:rPr lang="ru-RU" altLang="ru-RU" sz="2000" dirty="0" smtClean="0"/>
              <a:t>Финальное </a:t>
            </a:r>
            <a:r>
              <a:rPr lang="ru-RU" altLang="ru-RU" sz="2000" dirty="0"/>
              <a:t>тестирование и сравнение оптимизированных моделей </a:t>
            </a:r>
          </a:p>
        </p:txBody>
      </p:sp>
    </p:spTree>
    <p:extLst>
      <p:ext uri="{BB962C8B-B14F-4D97-AF65-F5344CB8AC3E}">
        <p14:creationId xmlns:p14="http://schemas.microsoft.com/office/powerpoint/2010/main" val="950383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3">
            <a:extLst>
              <a:ext uri="{FF2B5EF4-FFF2-40B4-BE49-F238E27FC236}">
                <a16:creationId xmlns:a16="http://schemas.microsoft.com/office/drawing/2014/main" xmlns="" id="{542A9EF0-C372-49E0-A6DB-C1F10C19AAB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273628" y="6434051"/>
            <a:ext cx="570309" cy="275255"/>
          </a:xfrm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12</a:t>
            </a:fld>
            <a:endParaRPr lang="ru-RU" dirty="0"/>
          </a:p>
        </p:txBody>
      </p:sp>
      <p:sp>
        <p:nvSpPr>
          <p:cNvPr id="21" name="Текст 2">
            <a:extLst>
              <a:ext uri="{FF2B5EF4-FFF2-40B4-BE49-F238E27FC236}">
                <a16:creationId xmlns:a16="http://schemas.microsoft.com/office/drawing/2014/main" xmlns="" id="{5A8999A3-76FB-4548-86BA-DAD9E574E770}"/>
              </a:ext>
            </a:extLst>
          </p:cNvPr>
          <p:cNvSpPr txBox="1">
            <a:spLocks/>
          </p:cNvSpPr>
          <p:nvPr/>
        </p:nvSpPr>
        <p:spPr>
          <a:xfrm>
            <a:off x="188305" y="1333690"/>
            <a:ext cx="11742764" cy="1088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None/>
              <a:defRPr sz="2700" b="0" i="0" u="none" strike="noStrike" cap="none" baseline="0">
                <a:solidFill>
                  <a:srgbClr val="F1BE29"/>
                </a:solidFill>
                <a:latin typeface="ALS Sector Regular" panose="02000000000000000000" pitchFamily="2" charset="0"/>
                <a:ea typeface="Open Sans"/>
                <a:cs typeface="ALS Sector Regular" panose="02000000000000000000" pitchFamily="2" charset="0"/>
                <a:sym typeface="Open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sz="20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sz="16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sz="14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sz="14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rPr lang="ru-RU" sz="2400" b="1" dirty="0" smtClean="0"/>
              <a:t>Тестирование моделей</a:t>
            </a:r>
            <a:endParaRPr lang="ru-RU" sz="2400" b="1" dirty="0"/>
          </a:p>
        </p:txBody>
      </p: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xmlns="" id="{68AC1BDB-9797-4A12-B4FC-ED5D4C2B9CD1}"/>
              </a:ext>
            </a:extLst>
          </p:cNvPr>
          <p:cNvGrpSpPr/>
          <p:nvPr/>
        </p:nvGrpSpPr>
        <p:grpSpPr>
          <a:xfrm>
            <a:off x="3167877" y="469293"/>
            <a:ext cx="8763191" cy="666000"/>
            <a:chOff x="1476753" y="3499669"/>
            <a:chExt cx="4619247" cy="666000"/>
          </a:xfrm>
        </p:grpSpPr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xmlns="" id="{89C13AD3-6AFD-447D-B4AF-345F80DAE2DD}"/>
                </a:ext>
              </a:extLst>
            </p:cNvPr>
            <p:cNvSpPr/>
            <p:nvPr/>
          </p:nvSpPr>
          <p:spPr>
            <a:xfrm>
              <a:off x="1476753" y="3499669"/>
              <a:ext cx="4619247" cy="66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800" spc="180" dirty="0" smtClean="0">
                  <a:ln>
                    <a:solidFill>
                      <a:srgbClr val="065CAB"/>
                    </a:solidFill>
                  </a:ln>
                  <a:solidFill>
                    <a:srgbClr val="065CAB"/>
                  </a:solidFill>
                  <a:latin typeface="ALS Sector Bold" pitchFamily="2" charset="0"/>
                  <a:cs typeface="ALS Sector Bold" pitchFamily="2" charset="0"/>
                </a:rPr>
                <a:t>Разработка, обучение и тестирование моделей</a:t>
              </a:r>
              <a:endParaRPr lang="ru-RU" sz="2800" spc="180" dirty="0">
                <a:latin typeface="ALS Sector Bold" pitchFamily="2" charset="0"/>
                <a:cs typeface="ALS Sector Bold" pitchFamily="2" charset="0"/>
              </a:endParaRPr>
            </a:p>
          </p:txBody>
        </p:sp>
        <p:sp>
          <p:nvSpPr>
            <p:cNvPr id="22" name="Прямоугольник 58">
              <a:extLst>
                <a:ext uri="{FF2B5EF4-FFF2-40B4-BE49-F238E27FC236}">
                  <a16:creationId xmlns:a16="http://schemas.microsoft.com/office/drawing/2014/main" xmlns="" id="{6B9297EB-1310-4C5F-A390-8C10AE4D1F31}"/>
                </a:ext>
              </a:extLst>
            </p:cNvPr>
            <p:cNvSpPr/>
            <p:nvPr/>
          </p:nvSpPr>
          <p:spPr>
            <a:xfrm rot="10800000" flipH="1">
              <a:off x="1476754" y="3499669"/>
              <a:ext cx="7657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65C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LS Sector Regular" panose="02000000000000000000" pitchFamily="2" charset="0"/>
              </a:endParaRPr>
            </a:p>
          </p:txBody>
        </p:sp>
        <p:sp>
          <p:nvSpPr>
            <p:cNvPr id="23" name="Прямоугольник 58">
              <a:extLst>
                <a:ext uri="{FF2B5EF4-FFF2-40B4-BE49-F238E27FC236}">
                  <a16:creationId xmlns:a16="http://schemas.microsoft.com/office/drawing/2014/main" xmlns="" id="{2A56CCB7-652F-4E87-98F1-EB2990DFF5A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005951" y="3499669"/>
              <a:ext cx="9004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046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rgbClr val="065CAB"/>
                </a:solidFill>
                <a:latin typeface="ALS Sector Regular" panose="02000000000000000000" pitchFamily="2" charset="0"/>
              </a:endParaRPr>
            </a:p>
          </p:txBody>
        </p:sp>
      </p:grpSp>
      <p:pic>
        <p:nvPicPr>
          <p:cNvPr id="10" name="Рисунок 9"/>
          <p:cNvPicPr/>
          <p:nvPr/>
        </p:nvPicPr>
        <p:blipFill>
          <a:blip r:embed="rId2"/>
          <a:stretch>
            <a:fillRect/>
          </a:stretch>
        </p:blipFill>
        <p:spPr>
          <a:xfrm>
            <a:off x="1042705" y="1804679"/>
            <a:ext cx="10033964" cy="2225346"/>
          </a:xfrm>
          <a:prstGeom prst="rect">
            <a:avLst/>
          </a:prstGeom>
        </p:spPr>
      </p:pic>
      <p:pic>
        <p:nvPicPr>
          <p:cNvPr id="11" name="Рисунок 10"/>
          <p:cNvPicPr/>
          <p:nvPr/>
        </p:nvPicPr>
        <p:blipFill>
          <a:blip r:embed="rId3"/>
          <a:stretch>
            <a:fillRect/>
          </a:stretch>
        </p:blipFill>
        <p:spPr>
          <a:xfrm>
            <a:off x="1095041" y="4103370"/>
            <a:ext cx="9929291" cy="2202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623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3">
            <a:extLst>
              <a:ext uri="{FF2B5EF4-FFF2-40B4-BE49-F238E27FC236}">
                <a16:creationId xmlns:a16="http://schemas.microsoft.com/office/drawing/2014/main" xmlns="" id="{542A9EF0-C372-49E0-A6DB-C1F10C19AAB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273628" y="6434051"/>
            <a:ext cx="570309" cy="275255"/>
          </a:xfrm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13</a:t>
            </a:fld>
            <a:endParaRPr lang="ru-RU" dirty="0"/>
          </a:p>
        </p:txBody>
      </p:sp>
      <p:sp>
        <p:nvSpPr>
          <p:cNvPr id="21" name="Текст 2">
            <a:extLst>
              <a:ext uri="{FF2B5EF4-FFF2-40B4-BE49-F238E27FC236}">
                <a16:creationId xmlns:a16="http://schemas.microsoft.com/office/drawing/2014/main" xmlns="" id="{5A8999A3-76FB-4548-86BA-DAD9E574E770}"/>
              </a:ext>
            </a:extLst>
          </p:cNvPr>
          <p:cNvSpPr txBox="1">
            <a:spLocks/>
          </p:cNvSpPr>
          <p:nvPr/>
        </p:nvSpPr>
        <p:spPr>
          <a:xfrm>
            <a:off x="188305" y="1333690"/>
            <a:ext cx="11742764" cy="1088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None/>
              <a:defRPr sz="2700" b="0" i="0" u="none" strike="noStrike" cap="none" baseline="0">
                <a:solidFill>
                  <a:srgbClr val="F1BE29"/>
                </a:solidFill>
                <a:latin typeface="ALS Sector Regular" panose="02000000000000000000" pitchFamily="2" charset="0"/>
                <a:ea typeface="Open Sans"/>
                <a:cs typeface="ALS Sector Regular" panose="02000000000000000000" pitchFamily="2" charset="0"/>
                <a:sym typeface="Open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sz="20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sz="16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sz="14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sz="14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rPr lang="ru-RU" sz="2400" b="1" dirty="0" smtClean="0"/>
              <a:t>Тестирование моделей</a:t>
            </a:r>
            <a:endParaRPr lang="ru-RU" sz="2400" b="1" dirty="0"/>
          </a:p>
        </p:txBody>
      </p: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xmlns="" id="{68AC1BDB-9797-4A12-B4FC-ED5D4C2B9CD1}"/>
              </a:ext>
            </a:extLst>
          </p:cNvPr>
          <p:cNvGrpSpPr/>
          <p:nvPr/>
        </p:nvGrpSpPr>
        <p:grpSpPr>
          <a:xfrm>
            <a:off x="3167877" y="469293"/>
            <a:ext cx="8763191" cy="666000"/>
            <a:chOff x="1476753" y="3499669"/>
            <a:chExt cx="4619247" cy="666000"/>
          </a:xfrm>
        </p:grpSpPr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xmlns="" id="{89C13AD3-6AFD-447D-B4AF-345F80DAE2DD}"/>
                </a:ext>
              </a:extLst>
            </p:cNvPr>
            <p:cNvSpPr/>
            <p:nvPr/>
          </p:nvSpPr>
          <p:spPr>
            <a:xfrm>
              <a:off x="1476753" y="3499669"/>
              <a:ext cx="4619247" cy="66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800" spc="180" dirty="0" smtClean="0">
                  <a:ln>
                    <a:solidFill>
                      <a:srgbClr val="065CAB"/>
                    </a:solidFill>
                  </a:ln>
                  <a:solidFill>
                    <a:srgbClr val="065CAB"/>
                  </a:solidFill>
                  <a:latin typeface="ALS Sector Bold" pitchFamily="2" charset="0"/>
                  <a:cs typeface="ALS Sector Bold" pitchFamily="2" charset="0"/>
                </a:rPr>
                <a:t>Разработка </a:t>
              </a:r>
              <a:r>
                <a:rPr lang="ru-RU" sz="2800" spc="180" dirty="0" err="1" smtClean="0">
                  <a:ln>
                    <a:solidFill>
                      <a:srgbClr val="065CAB"/>
                    </a:solidFill>
                  </a:ln>
                  <a:solidFill>
                    <a:srgbClr val="065CAB"/>
                  </a:solidFill>
                  <a:latin typeface="ALS Sector Bold" pitchFamily="2" charset="0"/>
                  <a:cs typeface="ALS Sector Bold" pitchFamily="2" charset="0"/>
                </a:rPr>
                <a:t>нейросетевой</a:t>
              </a:r>
              <a:r>
                <a:rPr lang="ru-RU" sz="2800" spc="180" dirty="0" smtClean="0">
                  <a:ln>
                    <a:solidFill>
                      <a:srgbClr val="065CAB"/>
                    </a:solidFill>
                  </a:ln>
                  <a:solidFill>
                    <a:srgbClr val="065CAB"/>
                  </a:solidFill>
                  <a:latin typeface="ALS Sector Bold" pitchFamily="2" charset="0"/>
                  <a:cs typeface="ALS Sector Bold" pitchFamily="2" charset="0"/>
                </a:rPr>
                <a:t> модели для оптимизации соотношения «матрица/наполнитель»</a:t>
              </a:r>
              <a:endParaRPr lang="ru-RU" sz="2800" spc="180" dirty="0">
                <a:latin typeface="ALS Sector Bold" pitchFamily="2" charset="0"/>
                <a:cs typeface="ALS Sector Bold" pitchFamily="2" charset="0"/>
              </a:endParaRPr>
            </a:p>
          </p:txBody>
        </p:sp>
        <p:sp>
          <p:nvSpPr>
            <p:cNvPr id="22" name="Прямоугольник 58">
              <a:extLst>
                <a:ext uri="{FF2B5EF4-FFF2-40B4-BE49-F238E27FC236}">
                  <a16:creationId xmlns:a16="http://schemas.microsoft.com/office/drawing/2014/main" xmlns="" id="{6B9297EB-1310-4C5F-A390-8C10AE4D1F31}"/>
                </a:ext>
              </a:extLst>
            </p:cNvPr>
            <p:cNvSpPr/>
            <p:nvPr/>
          </p:nvSpPr>
          <p:spPr>
            <a:xfrm rot="10800000" flipH="1">
              <a:off x="1476754" y="3499669"/>
              <a:ext cx="7657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65C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LS Sector Regular" panose="02000000000000000000" pitchFamily="2" charset="0"/>
              </a:endParaRPr>
            </a:p>
          </p:txBody>
        </p:sp>
        <p:sp>
          <p:nvSpPr>
            <p:cNvPr id="23" name="Прямоугольник 58">
              <a:extLst>
                <a:ext uri="{FF2B5EF4-FFF2-40B4-BE49-F238E27FC236}">
                  <a16:creationId xmlns:a16="http://schemas.microsoft.com/office/drawing/2014/main" xmlns="" id="{2A56CCB7-652F-4E87-98F1-EB2990DFF5A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005951" y="3499669"/>
              <a:ext cx="9004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046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rgbClr val="065CAB"/>
                </a:solidFill>
                <a:latin typeface="ALS Sector Regular" panose="02000000000000000000" pitchFamily="2" charset="0"/>
              </a:endParaRPr>
            </a:p>
          </p:txBody>
        </p:sp>
      </p:grpSp>
      <p:pic>
        <p:nvPicPr>
          <p:cNvPr id="12" name="Рисунок 11"/>
          <p:cNvPicPr/>
          <p:nvPr/>
        </p:nvPicPr>
        <p:blipFill>
          <a:blip r:embed="rId2"/>
          <a:stretch>
            <a:fillRect/>
          </a:stretch>
        </p:blipFill>
        <p:spPr>
          <a:xfrm>
            <a:off x="579771" y="1993872"/>
            <a:ext cx="4391025" cy="1715770"/>
          </a:xfrm>
          <a:prstGeom prst="rect">
            <a:avLst/>
          </a:prstGeom>
        </p:spPr>
      </p:pic>
      <p:pic>
        <p:nvPicPr>
          <p:cNvPr id="13" name="Рисунок 12" descr="D:\Data Science\ВКР\РАБОТА\Пояснительные\Рис\Без названия (10).png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281"/>
          <a:stretch/>
        </p:blipFill>
        <p:spPr bwMode="auto">
          <a:xfrm>
            <a:off x="1476538" y="3844436"/>
            <a:ext cx="4007603" cy="283917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4" name="Рисунок 13" descr="D:\Data Science\ВКР\РАБОТА\Пояснительные\Рис\Без названия (10).png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718"/>
          <a:stretch/>
        </p:blipFill>
        <p:spPr bwMode="auto">
          <a:xfrm>
            <a:off x="5799160" y="3844436"/>
            <a:ext cx="4052414" cy="283917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050" name="Picture 2" descr="D:\Data Science\ВКР\РАБОТА\Пояснительные\Рис\динам.pn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774"/>
          <a:stretch/>
        </p:blipFill>
        <p:spPr bwMode="auto">
          <a:xfrm>
            <a:off x="5753540" y="1514379"/>
            <a:ext cx="2843188" cy="2079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 bwMode="auto">
          <a:xfrm>
            <a:off x="8613923" y="1490195"/>
            <a:ext cx="3146313" cy="22194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60577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3">
            <a:extLst>
              <a:ext uri="{FF2B5EF4-FFF2-40B4-BE49-F238E27FC236}">
                <a16:creationId xmlns:a16="http://schemas.microsoft.com/office/drawing/2014/main" xmlns="" id="{542A9EF0-C372-49E0-A6DB-C1F10C19AAB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273628" y="6434051"/>
            <a:ext cx="570309" cy="275255"/>
          </a:xfrm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14</a:t>
            </a:fld>
            <a:endParaRPr lang="ru-RU" dirty="0"/>
          </a:p>
        </p:txBody>
      </p: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xmlns="" id="{68AC1BDB-9797-4A12-B4FC-ED5D4C2B9CD1}"/>
              </a:ext>
            </a:extLst>
          </p:cNvPr>
          <p:cNvGrpSpPr/>
          <p:nvPr/>
        </p:nvGrpSpPr>
        <p:grpSpPr>
          <a:xfrm>
            <a:off x="3167877" y="469293"/>
            <a:ext cx="8763191" cy="666000"/>
            <a:chOff x="1476753" y="3499669"/>
            <a:chExt cx="4619247" cy="666000"/>
          </a:xfrm>
        </p:grpSpPr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xmlns="" id="{89C13AD3-6AFD-447D-B4AF-345F80DAE2DD}"/>
                </a:ext>
              </a:extLst>
            </p:cNvPr>
            <p:cNvSpPr/>
            <p:nvPr/>
          </p:nvSpPr>
          <p:spPr>
            <a:xfrm>
              <a:off x="1476753" y="3499669"/>
              <a:ext cx="4619247" cy="66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800" spc="180" dirty="0" smtClean="0">
                  <a:ln>
                    <a:solidFill>
                      <a:srgbClr val="065CAB"/>
                    </a:solidFill>
                  </a:ln>
                  <a:solidFill>
                    <a:srgbClr val="065CAB"/>
                  </a:solidFill>
                  <a:latin typeface="ALS Sector Bold" pitchFamily="2" charset="0"/>
                  <a:cs typeface="ALS Sector Bold" pitchFamily="2" charset="0"/>
                </a:rPr>
                <a:t>Разработка веб-приложения</a:t>
              </a:r>
              <a:endParaRPr lang="ru-RU" sz="2800" spc="180" dirty="0">
                <a:latin typeface="ALS Sector Bold" pitchFamily="2" charset="0"/>
                <a:cs typeface="ALS Sector Bold" pitchFamily="2" charset="0"/>
              </a:endParaRPr>
            </a:p>
          </p:txBody>
        </p:sp>
        <p:sp>
          <p:nvSpPr>
            <p:cNvPr id="22" name="Прямоугольник 58">
              <a:extLst>
                <a:ext uri="{FF2B5EF4-FFF2-40B4-BE49-F238E27FC236}">
                  <a16:creationId xmlns:a16="http://schemas.microsoft.com/office/drawing/2014/main" xmlns="" id="{6B9297EB-1310-4C5F-A390-8C10AE4D1F31}"/>
                </a:ext>
              </a:extLst>
            </p:cNvPr>
            <p:cNvSpPr/>
            <p:nvPr/>
          </p:nvSpPr>
          <p:spPr>
            <a:xfrm rot="10800000" flipH="1">
              <a:off x="1476754" y="3499669"/>
              <a:ext cx="7657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65C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LS Sector Regular" panose="02000000000000000000" pitchFamily="2" charset="0"/>
              </a:endParaRPr>
            </a:p>
          </p:txBody>
        </p:sp>
        <p:sp>
          <p:nvSpPr>
            <p:cNvPr id="23" name="Прямоугольник 58">
              <a:extLst>
                <a:ext uri="{FF2B5EF4-FFF2-40B4-BE49-F238E27FC236}">
                  <a16:creationId xmlns:a16="http://schemas.microsoft.com/office/drawing/2014/main" xmlns="" id="{2A56CCB7-652F-4E87-98F1-EB2990DFF5A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005951" y="3499669"/>
              <a:ext cx="9004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046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rgbClr val="065CAB"/>
                </a:solidFill>
                <a:latin typeface="ALS Sector Regular" panose="02000000000000000000" pitchFamily="2" charset="0"/>
              </a:endParaRPr>
            </a:p>
          </p:txBody>
        </p:sp>
      </p:grpSp>
      <p:sp>
        <p:nvSpPr>
          <p:cNvPr id="3" name="Прямоугольник 2"/>
          <p:cNvSpPr/>
          <p:nvPr/>
        </p:nvSpPr>
        <p:spPr>
          <a:xfrm>
            <a:off x="1219464" y="2209460"/>
            <a:ext cx="5457108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800" b="1" dirty="0"/>
              <a:t>Фреймворк:</a:t>
            </a:r>
            <a:r>
              <a:rPr lang="ru-RU" sz="1800" dirty="0"/>
              <a:t> </a:t>
            </a:r>
            <a:r>
              <a:rPr lang="en-US" sz="1800" dirty="0" err="1"/>
              <a:t>Streamlit</a:t>
            </a:r>
            <a:r>
              <a:rPr lang="en-US" sz="1800" dirty="0"/>
              <a:t> </a:t>
            </a:r>
            <a:endParaRPr lang="ru-RU" sz="1800" dirty="0" smtClean="0"/>
          </a:p>
          <a:p>
            <a:endParaRPr lang="ru-RU" sz="1800" b="1" dirty="0" smtClean="0"/>
          </a:p>
          <a:p>
            <a:r>
              <a:rPr lang="ru-RU" sz="1800" b="1" dirty="0" smtClean="0"/>
              <a:t>Входные признаки</a:t>
            </a:r>
            <a:r>
              <a:rPr lang="ru-RU" sz="1800" dirty="0" smtClean="0"/>
              <a:t>: 12 параметров композитного материала и его компонентов</a:t>
            </a:r>
          </a:p>
          <a:p>
            <a:endParaRPr lang="ru-RU" sz="1800" b="1" dirty="0" smtClean="0"/>
          </a:p>
          <a:p>
            <a:r>
              <a:rPr lang="ru-RU" sz="1800" b="1" dirty="0" smtClean="0"/>
              <a:t>Прогнозируемый показатель: </a:t>
            </a:r>
            <a:r>
              <a:rPr lang="ru-RU" sz="1800" dirty="0"/>
              <a:t>«Соотношение матрица-наполнитель»</a:t>
            </a:r>
            <a:endParaRPr lang="ru-RU" sz="1800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2871" y="1251142"/>
            <a:ext cx="2796811" cy="488295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533"/>
          <a:stretch/>
        </p:blipFill>
        <p:spPr bwMode="auto">
          <a:xfrm>
            <a:off x="1219464" y="4629150"/>
            <a:ext cx="6166114" cy="150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1219464" y="6237124"/>
            <a:ext cx="826181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 smtClean="0"/>
              <a:t>Репозиторий</a:t>
            </a:r>
            <a:r>
              <a:rPr lang="ru-RU" dirty="0" smtClean="0"/>
              <a:t> на github.com:  </a:t>
            </a:r>
            <a:r>
              <a:rPr lang="ru-RU" u="sng" dirty="0">
                <a:hlinkClick r:id="rId4"/>
              </a:rPr>
              <a:t>https://github.com/iksar-pixel/Composite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61461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If,kjyVUNE_28012021">
  <a:themeElements>
    <a:clrScheme name="МГТУ10128">
      <a:dk1>
        <a:srgbClr val="000000"/>
      </a:dk1>
      <a:lt1>
        <a:srgbClr val="FFFFFF"/>
      </a:lt1>
      <a:dk2>
        <a:srgbClr val="062646"/>
      </a:dk2>
      <a:lt2>
        <a:srgbClr val="E3F0FD"/>
      </a:lt2>
      <a:accent1>
        <a:srgbClr val="0E5DAB"/>
      </a:accent1>
      <a:accent2>
        <a:srgbClr val="7BC6DF"/>
      </a:accent2>
      <a:accent3>
        <a:srgbClr val="F99D27"/>
      </a:accent3>
      <a:accent4>
        <a:srgbClr val="BDD7EE"/>
      </a:accent4>
      <a:accent5>
        <a:srgbClr val="FFC000"/>
      </a:accent5>
      <a:accent6>
        <a:srgbClr val="A5A5A5"/>
      </a:accent6>
      <a:hlink>
        <a:srgbClr val="1F75E2"/>
      </a:hlink>
      <a:folHlink>
        <a:srgbClr val="FA34DE"/>
      </a:folHlink>
    </a:clrScheme>
    <a:fontScheme name="Основная">
      <a:majorFont>
        <a:latin typeface="ALS Sector Bold"/>
        <a:ea typeface=""/>
        <a:cs typeface=""/>
      </a:majorFont>
      <a:minorFont>
        <a:latin typeface="ALS Sector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2300" dirty="0">
            <a:latin typeface="+mn-lt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1098</TotalTime>
  <Words>348</Words>
  <Application>Microsoft Office PowerPoint</Application>
  <PresentationFormat>Произвольный</PresentationFormat>
  <Paragraphs>78</Paragraphs>
  <Slides>15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3" baseType="lpstr">
      <vt:lpstr>Arial</vt:lpstr>
      <vt:lpstr>Times New Roman</vt:lpstr>
      <vt:lpstr>ALS Sector Bold</vt:lpstr>
      <vt:lpstr>Open Sans</vt:lpstr>
      <vt:lpstr>ALS Sector Regular</vt:lpstr>
      <vt:lpstr>Roboto Black</vt:lpstr>
      <vt:lpstr>Noto Sans Symbols</vt:lpstr>
      <vt:lpstr>If,kjyVUNE_28012021</vt:lpstr>
      <vt:lpstr>ВЫПУСКНАЯ КВАЛИФИКАЦИОННАЯ РАБОТА по курсу «Data Science PRO»  Тема: Прогнозирование конечных свойств  новых материалов (композиционных материалов)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Фомина Ольга</dc:creator>
  <cp:lastModifiedBy>User</cp:lastModifiedBy>
  <cp:revision>125</cp:revision>
  <dcterms:created xsi:type="dcterms:W3CDTF">2021-02-24T09:03:25Z</dcterms:created>
  <dcterms:modified xsi:type="dcterms:W3CDTF">2026-07-24T20:04:16Z</dcterms:modified>
</cp:coreProperties>
</file>